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and confident. One line: 'We migrated our application from Splunk to the LGTM stack. This session is the playbook so any team here can do the same — and it's a lot less work than you think.' Set expectations: ~30 min content, last 5-10 for Q&amp;A. Promise them a concrete first step they can take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hook — say it out loud and slow. The big fear in any migration is 'this is going to be painful and I don't have time.' Kill that fear in the first two minutes. Tell them the punchline up front so they relax and actually listen. You can even tease a live demo of doing exactly this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fast — 20 seconds. The point is to show there's a clear arc and they won't get lost. Tell them: 'I'll define every new term as it comes up, so don't worry if Loki/Tempo/Mimir mean nothing to you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factual, not a Splunk-basher — half the room may have built things in Splunk. Frame it as 'the right tool for where we are now.' The single most important word here is OpenTelemetry: it's the open standard for emitting telemetry, and it's why we're no longer locked to any one vendor. If asked about cost specifics, defer to the platform/FinOps team rather than quoting numbers you're not sure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anchor for the non-technical half of the room. Use a relatable analogy: logs are the diary entry, metrics are the fitness-tracker numbers, traces are the GPS route of a single trip. Everything in LGTM maps to one of these three. Tell them: 'Remember these three words — the next slide just gives each one a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mnemonic does the work: L-G-T-M. Map each one back to the three signals from the previous slide — Loki=logs, Tempo=traces, Mimir=metrics, Grafana=the single pane of glass that shows all three. Two extra names worth dropping verbally: OpenTelemetry (how data gets OUT of your app) and Faro (the same idea for the browser). Next slide shows how they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one box at a time. 'Your app emits telemetry in a standard format called OTLP. A Collector receives it, tidies it, and fans it out to the three stores. Grafana reads all three and draws the picture.' The key reassurance: every service plugs in the exact same way. The agent and Faro are the only things that live in your app; everything to the right is the platform team's problem, not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imposter-syndrome slide, reframed. Tell the real story — you started tiny, with a single jar on a local app, just to see if a log would appear. Lean into 'it felt too easy.' Then deliver the reframe: easy onboarding is the entire design goal of auto-instrumentation. You didn't cut a corner; you used the tool the way it was built to be used. That's exactly what you're now handing to everyone in the room. Confidence here sets the tone for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most of your engineers came for. Emphasise 'no code changes' twice — the agent instruments bytecode at runtime, so they don't import anything or rewrite anything. Point out the two properties that matter most: X-Scope-OrgID (multi-tenancy — keeps each team's data separate) and otel.service.name (the single value the dashboard keys off). Note the values shown are illustrative — point people to the real endpoints in the runbook.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Faro as 'the OTel agent for the browser.' The value: you finally see the half of the request that happens on the user's machine — JS errors, slow page loads, route changes — and you can stitch it to the backend trace. Keep the code illustrative; the exact init lives in the runbook. If the audience is mostly backend, keep this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'boom, you're live' promise pays off. If you can, do a 60-second LIVE demo here: open the template, change the service_name variable, watch panels populate. If a live demo is risky on the network, use a screen recording instead — never bet a talk on a live connection. Mention RED so people understand the dashboard isn't arbitrary: it answers Rate, Errors, Duration — the universal starting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good alerts are business-specific, not just infrastructure noise — e.g. 'order submission failure rate', not just 'CPU &gt; 80%'. Walk the chain: Grafana fires -&gt; BigPanda correlates and dedupes (so one outage isn't 200 alerts) -&gt; ServiceNow opens a ticket automatically -&gt; on-call gets something actionable. The cautionary note about alert fatigue is important; say it. Note BigPanda-&gt;ServiceNow config is set up on the BigPanda side — point teams to that runbook.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that you used AI heavily — it's a strength, not a confession. Show the workflow live if you can: a quick prompt, the JSON it produces, pasting into Grafana Import. The crucial honesty beat: AI hallucinates metric/label names, so you MUST review generated queries against real data. Position AI as the way every team can produce a polished dashboard without learning PromQL deeply on day one — while still owning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a sense of trajectory and that they're not on the bleeding edge alone. 'Now' = proven and working. 'Next' = the rollout you're inviting them into, including the one honest open item (Azure metrics — next slide). 'Later' = the end state, including switching Splunk off. Be realistic on dates; under-promise. Invite teams to pick a slot in the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hide the open item — owning it builds credibility. The clean mental model: the agent is INSIDE the app and sees the app; Azure resource allocation is the platform layer underneath, so it needs a different source. Two paths: (1) easiest — add Azure Monitor as a Grafana data source and put those panels right next to your app metrics, no pipeline needed; (2) if we want it in Mimir for unified storage/alerting, the OTel Collector has an Azure Monitor receiver. Frame this as 'next', and flag it as a great area for someone to help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action, not summary. Give them a checklist they could literally start after lunch. The last item — 'ping me, I'll pair with you' — lowers the activation barrier more than any slide. Fill the Resources box with your real links before presenting (runbook, dashboard repo, Slack channel). Make the first step trivially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 answers for the listed topics in advance (see the chat for a cheat-sheet). For anything you don't know — especially cost figures or retention policy — say 'I'll follow up' rather than guessing; it protects your credibility. Close by repeating the call to action from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1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46800"/>
          </a:solidFill>
          <a:ln/>
        </p:spPr>
      </p:sp>
      <p:sp>
        <p:nvSpPr>
          <p:cNvPr id="3" name="Text 1"/>
          <p:cNvSpPr/>
          <p:nvPr/>
        </p:nvSpPr>
        <p:spPr>
          <a:xfrm>
            <a:off x="640080" y="1280160"/>
            <a:ext cx="8229600" cy="548640"/>
          </a:xfrm>
          <a:prstGeom prst="rect">
            <a:avLst/>
          </a:prstGeom>
          <a:noFill/>
          <a:ln/>
        </p:spPr>
        <p:txBody>
          <a:bodyPr wrap="square" lIns="0" tIns="0" rIns="0" bIns="0" rtlCol="0" anchor="ctr"/>
          <a:lstStyle/>
          <a:p>
            <a:pPr indent="0" marL="0">
              <a:buNone/>
            </a:pPr>
            <a:r>
              <a:rPr lang="en-US" sz="2000" b="1" spc="800" kern="0" dirty="0">
                <a:solidFill>
                  <a:srgbClr val="F46800"/>
                </a:solidFill>
                <a:latin typeface="Consolas" pitchFamily="34" charset="0"/>
                <a:ea typeface="Consolas" pitchFamily="34" charset="-122"/>
                <a:cs typeface="Consolas" pitchFamily="34" charset="-120"/>
              </a:rPr>
              <a:t>L  G  T  M</a:t>
            </a:r>
            <a:endParaRPr lang="en-US" sz="2000" dirty="0"/>
          </a:p>
        </p:txBody>
      </p:sp>
      <p:sp>
        <p:nvSpPr>
          <p:cNvPr id="4" name="Text 2"/>
          <p:cNvSpPr/>
          <p:nvPr/>
        </p:nvSpPr>
        <p:spPr>
          <a:xfrm>
            <a:off x="640080" y="1828800"/>
            <a:ext cx="10424160" cy="1097280"/>
          </a:xfrm>
          <a:prstGeom prst="rect">
            <a:avLst/>
          </a:prstGeom>
          <a:noFill/>
          <a:ln/>
        </p:spPr>
        <p:txBody>
          <a:bodyPr wrap="square" lIns="0" tIns="0" rIns="0" bIns="0" rtlCol="0" anchor="ctr"/>
          <a:lstStyle/>
          <a:p>
            <a:pPr indent="0" marL="0">
              <a:buNone/>
            </a:pPr>
            <a:r>
              <a:rPr lang="en-US" sz="5400" b="1" dirty="0">
                <a:solidFill>
                  <a:srgbClr val="F4F5F7"/>
                </a:solidFill>
                <a:latin typeface="Trebuchet MS" pitchFamily="34" charset="0"/>
                <a:ea typeface="Trebuchet MS" pitchFamily="34" charset="-122"/>
                <a:cs typeface="Trebuchet MS" pitchFamily="34" charset="-120"/>
              </a:rPr>
              <a:t>From Splunk to LGTM</a:t>
            </a:r>
            <a:endParaRPr lang="en-US" sz="5400" dirty="0"/>
          </a:p>
        </p:txBody>
      </p:sp>
      <p:sp>
        <p:nvSpPr>
          <p:cNvPr id="5" name="Text 3"/>
          <p:cNvSpPr/>
          <p:nvPr/>
        </p:nvSpPr>
        <p:spPr>
          <a:xfrm>
            <a:off x="640080" y="2971800"/>
            <a:ext cx="10424160" cy="640080"/>
          </a:xfrm>
          <a:prstGeom prst="rect">
            <a:avLst/>
          </a:prstGeom>
          <a:noFill/>
          <a:ln/>
        </p:spPr>
        <p:txBody>
          <a:bodyPr wrap="square" lIns="0" tIns="0" rIns="0" bIns="0" rtlCol="0" anchor="ctr"/>
          <a:lstStyle/>
          <a:p>
            <a:pPr indent="0" marL="0">
              <a:buNone/>
            </a:pPr>
            <a:r>
              <a:rPr lang="en-US" sz="2600" dirty="0">
                <a:solidFill>
                  <a:srgbClr val="9BA1AE"/>
                </a:solidFill>
                <a:latin typeface="Trebuchet MS" pitchFamily="34" charset="0"/>
                <a:ea typeface="Trebuchet MS" pitchFamily="34" charset="-122"/>
                <a:cs typeface="Trebuchet MS" pitchFamily="34" charset="-120"/>
              </a:rPr>
              <a:t>An observability migration playbook</a:t>
            </a:r>
            <a:endParaRPr lang="en-US" sz="2600" dirty="0"/>
          </a:p>
        </p:txBody>
      </p:sp>
      <p:sp>
        <p:nvSpPr>
          <p:cNvPr id="6" name="Text 4"/>
          <p:cNvSpPr/>
          <p:nvPr/>
        </p:nvSpPr>
        <p:spPr>
          <a:xfrm>
            <a:off x="640080" y="4114800"/>
            <a:ext cx="10058400" cy="548640"/>
          </a:xfrm>
          <a:prstGeom prst="rect">
            <a:avLst/>
          </a:prstGeom>
          <a:noFill/>
          <a:ln/>
        </p:spPr>
        <p:txBody>
          <a:bodyPr wrap="square" lIns="0" tIns="0" rIns="0" bIns="0" rtlCol="0" anchor="ctr"/>
          <a:lstStyle/>
          <a:p>
            <a:pPr indent="0" marL="0">
              <a:buNone/>
            </a:pPr>
            <a:r>
              <a:rPr lang="en-US" sz="1600" dirty="0">
                <a:solidFill>
                  <a:srgbClr val="F4F5F7"/>
                </a:solidFill>
                <a:latin typeface="Calibri" pitchFamily="34" charset="0"/>
                <a:ea typeface="Calibri" pitchFamily="34" charset="-122"/>
                <a:cs typeface="Calibri" pitchFamily="34" charset="-120"/>
              </a:rPr>
              <a:t>How our app moved off Splunk — and how you can be live on LGTM </a:t>
            </a:r>
            <a:pPr indent="0" marL="0">
              <a:buNone/>
            </a:pPr>
            <a:r>
              <a:rPr lang="en-US" sz="1600" b="1" dirty="0">
                <a:solidFill>
                  <a:srgbClr val="FF8A3D"/>
                </a:solidFill>
                <a:latin typeface="Calibri" pitchFamily="34" charset="0"/>
                <a:ea typeface="Calibri" pitchFamily="34" charset="-122"/>
                <a:cs typeface="Calibri" pitchFamily="34" charset="-120"/>
              </a:rPr>
              <a:t>this week</a:t>
            </a:r>
            <a:pPr indent="0" marL="0">
              <a:buNone/>
            </a:pPr>
            <a:r>
              <a:rPr lang="en-US" sz="1600" dirty="0">
                <a:solidFill>
                  <a:srgbClr val="F4F5F7"/>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640080" y="5943600"/>
            <a:ext cx="10058400" cy="365760"/>
          </a:xfrm>
          <a:prstGeom prst="rect">
            <a:avLst/>
          </a:prstGeom>
          <a:noFill/>
          <a:ln/>
        </p:spPr>
        <p:txBody>
          <a:bodyPr wrap="square" lIns="0" tIns="0" rIns="0" bIns="0" rtlCol="0" anchor="ctr"/>
          <a:lstStyle/>
          <a:p>
            <a:pPr indent="0" marL="0">
              <a:buNone/>
            </a:pPr>
            <a:r>
              <a:rPr lang="en-US" sz="1300" dirty="0">
                <a:solidFill>
                  <a:srgbClr val="6E7480"/>
                </a:solidFill>
                <a:latin typeface="Calibri" pitchFamily="34" charset="0"/>
                <a:ea typeface="Calibri" pitchFamily="34" charset="-122"/>
                <a:cs typeface="Calibri" pitchFamily="34" charset="-120"/>
              </a:rPr>
              <a:t>Presented by Sid  •  Platform / Observability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914400"/>
            <a:ext cx="10058400" cy="274320"/>
          </a:xfrm>
          <a:prstGeom prst="rect">
            <a:avLst/>
          </a:prstGeom>
          <a:noFill/>
          <a:ln/>
        </p:spPr>
        <p:txBody>
          <a:bodyPr wrap="square" lIns="0" tIns="0" rIns="0" bIns="0" rtlCol="0" anchor="ctr"/>
          <a:lstStyle/>
          <a:p>
            <a:pPr indent="0" marL="0">
              <a:buNone/>
            </a:pPr>
            <a:r>
              <a:rPr lang="en-US" sz="1300" b="1" spc="300" kern="0" dirty="0">
                <a:solidFill>
                  <a:srgbClr val="F46800"/>
                </a:solidFill>
                <a:latin typeface="Calibri" pitchFamily="34" charset="0"/>
                <a:ea typeface="Calibri" pitchFamily="34" charset="-122"/>
                <a:cs typeface="Calibri" pitchFamily="34" charset="-120"/>
              </a:rPr>
              <a:t>THE PROMISE</a:t>
            </a:r>
            <a:endParaRPr lang="en-US" sz="1300" dirty="0"/>
          </a:p>
        </p:txBody>
      </p:sp>
      <p:sp>
        <p:nvSpPr>
          <p:cNvPr id="3" name="Text 1"/>
          <p:cNvSpPr/>
          <p:nvPr/>
        </p:nvSpPr>
        <p:spPr>
          <a:xfrm>
            <a:off x="640080" y="1417320"/>
            <a:ext cx="10972800" cy="2194560"/>
          </a:xfrm>
          <a:prstGeom prst="rect">
            <a:avLst/>
          </a:prstGeom>
          <a:noFill/>
          <a:ln/>
        </p:spPr>
        <p:txBody>
          <a:bodyPr wrap="square" lIns="0" tIns="0" rIns="0" bIns="0" rtlCol="0" anchor="ctr"/>
          <a:lstStyle/>
          <a:p>
            <a:pPr indent="0" marL="0">
              <a:lnSpc>
                <a:spcPct val="105000"/>
              </a:lnSpc>
              <a:buNone/>
            </a:pPr>
            <a:r>
              <a:rPr lang="en-US" sz="4600" b="1" dirty="0">
                <a:solidFill>
                  <a:srgbClr val="F4F5F7"/>
                </a:solidFill>
                <a:latin typeface="Trebuchet MS" pitchFamily="34" charset="0"/>
                <a:ea typeface="Trebuchet MS" pitchFamily="34" charset="-122"/>
                <a:cs typeface="Trebuchet MS" pitchFamily="34" charset="-120"/>
              </a:rPr>
              <a:t>Copy the dashboard. </a:t>
            </a:r>
            <a:endParaRPr lang="en-US" sz="4600" dirty="0"/>
          </a:p>
          <a:p>
            <a:pPr indent="0" marL="0">
              <a:lnSpc>
                <a:spcPct val="105000"/>
              </a:lnSpc>
              <a:buNone/>
            </a:pPr>
            <a:r>
              <a:rPr lang="en-US" sz="4600" b="1" dirty="0">
                <a:solidFill>
                  <a:srgbClr val="F4F5F7"/>
                </a:solidFill>
                <a:latin typeface="Trebuchet MS" pitchFamily="34" charset="0"/>
                <a:ea typeface="Trebuchet MS" pitchFamily="34" charset="-122"/>
                <a:cs typeface="Trebuchet MS" pitchFamily="34" charset="-120"/>
              </a:rPr>
              <a:t>Swap your service name. </a:t>
            </a:r>
            <a:endParaRPr lang="en-US" sz="4600" dirty="0"/>
          </a:p>
          <a:p>
            <a:pPr indent="0" marL="0">
              <a:lnSpc>
                <a:spcPct val="105000"/>
              </a:lnSpc>
              <a:buNone/>
            </a:pPr>
            <a:r>
              <a:rPr lang="en-US" sz="4600" b="1" dirty="0">
                <a:solidFill>
                  <a:srgbClr val="FF8A3D"/>
                </a:solidFill>
                <a:latin typeface="Trebuchet MS" pitchFamily="34" charset="0"/>
                <a:ea typeface="Trebuchet MS" pitchFamily="34" charset="-122"/>
                <a:cs typeface="Trebuchet MS" pitchFamily="34" charset="-120"/>
              </a:rPr>
              <a:t>See your data.</a:t>
            </a:r>
            <a:endParaRPr lang="en-US" sz="4600" dirty="0"/>
          </a:p>
        </p:txBody>
      </p:sp>
      <p:sp>
        <p:nvSpPr>
          <p:cNvPr id="4" name="Text 2"/>
          <p:cNvSpPr/>
          <p:nvPr/>
        </p:nvSpPr>
        <p:spPr>
          <a:xfrm>
            <a:off x="640080" y="4023360"/>
            <a:ext cx="9875520" cy="822960"/>
          </a:xfrm>
          <a:prstGeom prst="rect">
            <a:avLst/>
          </a:prstGeom>
          <a:noFill/>
          <a:ln/>
        </p:spPr>
        <p:txBody>
          <a:bodyPr wrap="square" lIns="0" tIns="0" rIns="0" bIns="0" rtlCol="0" anchor="ctr"/>
          <a:lstStyle/>
          <a:p>
            <a:pPr indent="0" marL="0">
              <a:buNone/>
            </a:pPr>
            <a:r>
              <a:rPr lang="en-US" sz="1700" dirty="0">
                <a:solidFill>
                  <a:srgbClr val="9BA1AE"/>
                </a:solidFill>
                <a:latin typeface="Calibri" pitchFamily="34" charset="0"/>
                <a:ea typeface="Calibri" pitchFamily="34" charset="-122"/>
                <a:cs typeface="Calibri" pitchFamily="34" charset="-120"/>
              </a:rPr>
              <a:t>That's the whole onboarding story. Everything else in this deck is just explaining why that works — and how to make it work for you.</a:t>
            </a:r>
            <a:endParaRPr lang="en-US" sz="1700" dirty="0"/>
          </a:p>
        </p:txBody>
      </p:sp>
      <p:sp>
        <p:nvSpPr>
          <p:cNvPr id="5" name="Shape 3"/>
          <p:cNvSpPr/>
          <p:nvPr/>
        </p:nvSpPr>
        <p:spPr>
          <a:xfrm>
            <a:off x="640080" y="5120640"/>
            <a:ext cx="3383280" cy="109728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6" name="Text 4"/>
          <p:cNvSpPr/>
          <p:nvPr/>
        </p:nvSpPr>
        <p:spPr>
          <a:xfrm>
            <a:off x="868680" y="5285232"/>
            <a:ext cx="3017520" cy="457200"/>
          </a:xfrm>
          <a:prstGeom prst="rect">
            <a:avLst/>
          </a:prstGeom>
          <a:noFill/>
          <a:ln/>
        </p:spPr>
        <p:txBody>
          <a:bodyPr wrap="square" lIns="0" tIns="0" rIns="0" bIns="0" rtlCol="0" anchor="ctr"/>
          <a:lstStyle/>
          <a:p>
            <a:pPr indent="0" marL="0">
              <a:buNone/>
            </a:pPr>
            <a:r>
              <a:rPr lang="en-US" sz="2200" b="1" dirty="0">
                <a:solidFill>
                  <a:srgbClr val="F46800"/>
                </a:solidFill>
                <a:latin typeface="Trebuchet MS" pitchFamily="34" charset="0"/>
                <a:ea typeface="Trebuchet MS" pitchFamily="34" charset="-122"/>
                <a:cs typeface="Trebuchet MS" pitchFamily="34" charset="-120"/>
              </a:rPr>
              <a:t>No code changes</a:t>
            </a:r>
            <a:endParaRPr lang="en-US" sz="2200" dirty="0"/>
          </a:p>
        </p:txBody>
      </p:sp>
      <p:sp>
        <p:nvSpPr>
          <p:cNvPr id="7" name="Text 5"/>
          <p:cNvSpPr/>
          <p:nvPr/>
        </p:nvSpPr>
        <p:spPr>
          <a:xfrm>
            <a:off x="868680" y="5742432"/>
            <a:ext cx="3017520" cy="365760"/>
          </a:xfrm>
          <a:prstGeom prst="rect">
            <a:avLst/>
          </a:prstGeom>
          <a:noFill/>
          <a:ln/>
        </p:spPr>
        <p:txBody>
          <a:bodyPr wrap="square" lIns="0" tIns="0" rIns="0" bIns="0" rtlCol="0" anchor="ctr"/>
          <a:lstStyle/>
          <a:p>
            <a:pPr indent="0" marL="0">
              <a:buNone/>
            </a:pPr>
            <a:r>
              <a:rPr lang="en-US" sz="1300" dirty="0">
                <a:solidFill>
                  <a:srgbClr val="9BA1AE"/>
                </a:solidFill>
                <a:latin typeface="Calibri" pitchFamily="34" charset="0"/>
                <a:ea typeface="Calibri" pitchFamily="34" charset="-122"/>
                <a:cs typeface="Calibri" pitchFamily="34" charset="-120"/>
              </a:rPr>
              <a:t>Java auto-instrumentation</a:t>
            </a:r>
            <a:endParaRPr lang="en-US" sz="1300" dirty="0"/>
          </a:p>
        </p:txBody>
      </p:sp>
      <p:sp>
        <p:nvSpPr>
          <p:cNvPr id="8" name="Shape 6"/>
          <p:cNvSpPr/>
          <p:nvPr/>
        </p:nvSpPr>
        <p:spPr>
          <a:xfrm>
            <a:off x="4297680" y="5120640"/>
            <a:ext cx="3383280" cy="109728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9" name="Text 7"/>
          <p:cNvSpPr/>
          <p:nvPr/>
        </p:nvSpPr>
        <p:spPr>
          <a:xfrm>
            <a:off x="4526280" y="5285232"/>
            <a:ext cx="3017520" cy="457200"/>
          </a:xfrm>
          <a:prstGeom prst="rect">
            <a:avLst/>
          </a:prstGeom>
          <a:noFill/>
          <a:ln/>
        </p:spPr>
        <p:txBody>
          <a:bodyPr wrap="square" lIns="0" tIns="0" rIns="0" bIns="0" rtlCol="0" anchor="ctr"/>
          <a:lstStyle/>
          <a:p>
            <a:pPr indent="0" marL="0">
              <a:buNone/>
            </a:pPr>
            <a:r>
              <a:rPr lang="en-US" sz="2200" b="1" dirty="0">
                <a:solidFill>
                  <a:srgbClr val="F46800"/>
                </a:solidFill>
                <a:latin typeface="Trebuchet MS" pitchFamily="34" charset="0"/>
                <a:ea typeface="Trebuchet MS" pitchFamily="34" charset="-122"/>
                <a:cs typeface="Trebuchet MS" pitchFamily="34" charset="-120"/>
              </a:rPr>
              <a:t>~3 steps</a:t>
            </a:r>
            <a:endParaRPr lang="en-US" sz="2200" dirty="0"/>
          </a:p>
        </p:txBody>
      </p:sp>
      <p:sp>
        <p:nvSpPr>
          <p:cNvPr id="10" name="Text 8"/>
          <p:cNvSpPr/>
          <p:nvPr/>
        </p:nvSpPr>
        <p:spPr>
          <a:xfrm>
            <a:off x="4526280" y="5742432"/>
            <a:ext cx="3017520" cy="365760"/>
          </a:xfrm>
          <a:prstGeom prst="rect">
            <a:avLst/>
          </a:prstGeom>
          <a:noFill/>
          <a:ln/>
        </p:spPr>
        <p:txBody>
          <a:bodyPr wrap="square" lIns="0" tIns="0" rIns="0" bIns="0" rtlCol="0" anchor="ctr"/>
          <a:lstStyle/>
          <a:p>
            <a:pPr indent="0" marL="0">
              <a:buNone/>
            </a:pPr>
            <a:r>
              <a:rPr lang="en-US" sz="1300" dirty="0">
                <a:solidFill>
                  <a:srgbClr val="9BA1AE"/>
                </a:solidFill>
                <a:latin typeface="Calibri" pitchFamily="34" charset="0"/>
                <a:ea typeface="Calibri" pitchFamily="34" charset="-122"/>
                <a:cs typeface="Calibri" pitchFamily="34" charset="-120"/>
              </a:rPr>
              <a:t>to first telemetry</a:t>
            </a:r>
            <a:endParaRPr lang="en-US" sz="1300" dirty="0"/>
          </a:p>
        </p:txBody>
      </p:sp>
      <p:sp>
        <p:nvSpPr>
          <p:cNvPr id="11" name="Shape 9"/>
          <p:cNvSpPr/>
          <p:nvPr/>
        </p:nvSpPr>
        <p:spPr>
          <a:xfrm>
            <a:off x="7955280" y="5120640"/>
            <a:ext cx="3383280" cy="109728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12" name="Text 10"/>
          <p:cNvSpPr/>
          <p:nvPr/>
        </p:nvSpPr>
        <p:spPr>
          <a:xfrm>
            <a:off x="8183880" y="5285232"/>
            <a:ext cx="3017520" cy="457200"/>
          </a:xfrm>
          <a:prstGeom prst="rect">
            <a:avLst/>
          </a:prstGeom>
          <a:noFill/>
          <a:ln/>
        </p:spPr>
        <p:txBody>
          <a:bodyPr wrap="square" lIns="0" tIns="0" rIns="0" bIns="0" rtlCol="0" anchor="ctr"/>
          <a:lstStyle/>
          <a:p>
            <a:pPr indent="0" marL="0">
              <a:buNone/>
            </a:pPr>
            <a:r>
              <a:rPr lang="en-US" sz="2200" b="1" dirty="0">
                <a:solidFill>
                  <a:srgbClr val="F46800"/>
                </a:solidFill>
                <a:latin typeface="Trebuchet MS" pitchFamily="34" charset="0"/>
                <a:ea typeface="Trebuchet MS" pitchFamily="34" charset="-122"/>
                <a:cs typeface="Trebuchet MS" pitchFamily="34" charset="-120"/>
              </a:rPr>
              <a:t>1 template</a:t>
            </a:r>
            <a:endParaRPr lang="en-US" sz="2200" dirty="0"/>
          </a:p>
        </p:txBody>
      </p:sp>
      <p:sp>
        <p:nvSpPr>
          <p:cNvPr id="13" name="Text 11"/>
          <p:cNvSpPr/>
          <p:nvPr/>
        </p:nvSpPr>
        <p:spPr>
          <a:xfrm>
            <a:off x="8183880" y="5742432"/>
            <a:ext cx="3017520" cy="365760"/>
          </a:xfrm>
          <a:prstGeom prst="rect">
            <a:avLst/>
          </a:prstGeom>
          <a:noFill/>
          <a:ln/>
        </p:spPr>
        <p:txBody>
          <a:bodyPr wrap="square" lIns="0" tIns="0" rIns="0" bIns="0" rtlCol="0" anchor="ctr"/>
          <a:lstStyle/>
          <a:p>
            <a:pPr indent="0" marL="0">
              <a:buNone/>
            </a:pPr>
            <a:r>
              <a:rPr lang="en-US" sz="1300" dirty="0">
                <a:solidFill>
                  <a:srgbClr val="9BA1AE"/>
                </a:solidFill>
                <a:latin typeface="Calibri" pitchFamily="34" charset="0"/>
                <a:ea typeface="Calibri" pitchFamily="34" charset="-122"/>
                <a:cs typeface="Calibri" pitchFamily="34" charset="-120"/>
              </a:rPr>
              <a:t>reused by every team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ROADMAP FOR THE NEXT 30 MINUTES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What we'll cover</a:t>
            </a:r>
            <a:endParaRPr lang="en-US" sz="3000" dirty="0"/>
          </a:p>
        </p:txBody>
      </p:sp>
      <p:sp>
        <p:nvSpPr>
          <p:cNvPr id="4" name="Shape 2"/>
          <p:cNvSpPr/>
          <p:nvPr/>
        </p:nvSpPr>
        <p:spPr>
          <a:xfrm>
            <a:off x="640080" y="1600200"/>
            <a:ext cx="5394960" cy="914400"/>
          </a:xfrm>
          <a:prstGeom prst="rect">
            <a:avLst/>
          </a:prstGeom>
          <a:solidFill>
            <a:srgbClr val="1B1F2B"/>
          </a:solidFill>
          <a:ln w="12700">
            <a:solidFill>
              <a:srgbClr val="232838"/>
            </a:solidFill>
            <a:prstDash val="solid"/>
          </a:ln>
        </p:spPr>
      </p:sp>
      <p:sp>
        <p:nvSpPr>
          <p:cNvPr id="5" name="Text 3"/>
          <p:cNvSpPr/>
          <p:nvPr/>
        </p:nvSpPr>
        <p:spPr>
          <a:xfrm>
            <a:off x="822960" y="1764792"/>
            <a:ext cx="868680" cy="640080"/>
          </a:xfrm>
          <a:prstGeom prst="rect">
            <a:avLst/>
          </a:prstGeom>
          <a:noFill/>
          <a:ln/>
        </p:spPr>
        <p:txBody>
          <a:bodyPr wrap="square" lIns="0" tIns="0" rIns="0" bIns="0" rtlCol="0" anchor="ctr"/>
          <a:lstStyle/>
          <a:p>
            <a:pPr indent="0" marL="0">
              <a:buNone/>
            </a:pPr>
            <a:r>
              <a:rPr lang="en-US" sz="3000" b="1" dirty="0">
                <a:solidFill>
                  <a:srgbClr val="F46800"/>
                </a:solidFill>
                <a:latin typeface="Trebuchet MS" pitchFamily="34" charset="0"/>
                <a:ea typeface="Trebuchet MS" pitchFamily="34" charset="-122"/>
                <a:cs typeface="Trebuchet MS" pitchFamily="34" charset="-120"/>
              </a:rPr>
              <a:t>01</a:t>
            </a:r>
            <a:endParaRPr lang="en-US" sz="3000" dirty="0"/>
          </a:p>
        </p:txBody>
      </p:sp>
      <p:sp>
        <p:nvSpPr>
          <p:cNvPr id="6" name="Text 4"/>
          <p:cNvSpPr/>
          <p:nvPr/>
        </p:nvSpPr>
        <p:spPr>
          <a:xfrm>
            <a:off x="1737360" y="1746504"/>
            <a:ext cx="4114800" cy="365760"/>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Why we moved</a:t>
            </a:r>
            <a:endParaRPr lang="en-US" sz="1600" dirty="0"/>
          </a:p>
        </p:txBody>
      </p:sp>
      <p:sp>
        <p:nvSpPr>
          <p:cNvPr id="7" name="Text 5"/>
          <p:cNvSpPr/>
          <p:nvPr/>
        </p:nvSpPr>
        <p:spPr>
          <a:xfrm>
            <a:off x="1737360" y="2103120"/>
            <a:ext cx="4114800" cy="320040"/>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Splunk to open standards</a:t>
            </a:r>
            <a:endParaRPr lang="en-US" sz="1250" dirty="0"/>
          </a:p>
        </p:txBody>
      </p:sp>
      <p:sp>
        <p:nvSpPr>
          <p:cNvPr id="8" name="Shape 6"/>
          <p:cNvSpPr/>
          <p:nvPr/>
        </p:nvSpPr>
        <p:spPr>
          <a:xfrm>
            <a:off x="6217920" y="1600200"/>
            <a:ext cx="5394960" cy="914400"/>
          </a:xfrm>
          <a:prstGeom prst="rect">
            <a:avLst/>
          </a:prstGeom>
          <a:solidFill>
            <a:srgbClr val="1B1F2B"/>
          </a:solidFill>
          <a:ln w="12700">
            <a:solidFill>
              <a:srgbClr val="232838"/>
            </a:solidFill>
            <a:prstDash val="solid"/>
          </a:ln>
        </p:spPr>
      </p:sp>
      <p:sp>
        <p:nvSpPr>
          <p:cNvPr id="9" name="Text 7"/>
          <p:cNvSpPr/>
          <p:nvPr/>
        </p:nvSpPr>
        <p:spPr>
          <a:xfrm>
            <a:off x="6400800" y="1764792"/>
            <a:ext cx="868680" cy="640080"/>
          </a:xfrm>
          <a:prstGeom prst="rect">
            <a:avLst/>
          </a:prstGeom>
          <a:noFill/>
          <a:ln/>
        </p:spPr>
        <p:txBody>
          <a:bodyPr wrap="square" lIns="0" tIns="0" rIns="0" bIns="0" rtlCol="0" anchor="ctr"/>
          <a:lstStyle/>
          <a:p>
            <a:pPr indent="0" marL="0">
              <a:buNone/>
            </a:pPr>
            <a:r>
              <a:rPr lang="en-US" sz="3000" b="1" dirty="0">
                <a:solidFill>
                  <a:srgbClr val="F46800"/>
                </a:solidFill>
                <a:latin typeface="Trebuchet MS" pitchFamily="34" charset="0"/>
                <a:ea typeface="Trebuchet MS" pitchFamily="34" charset="-122"/>
                <a:cs typeface="Trebuchet MS" pitchFamily="34" charset="-120"/>
              </a:rPr>
              <a:t>02</a:t>
            </a:r>
            <a:endParaRPr lang="en-US" sz="3000" dirty="0"/>
          </a:p>
        </p:txBody>
      </p:sp>
      <p:sp>
        <p:nvSpPr>
          <p:cNvPr id="10" name="Text 8"/>
          <p:cNvSpPr/>
          <p:nvPr/>
        </p:nvSpPr>
        <p:spPr>
          <a:xfrm>
            <a:off x="7315200" y="1746504"/>
            <a:ext cx="4114800" cy="365760"/>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What observability is</a:t>
            </a:r>
            <a:endParaRPr lang="en-US" sz="1600" dirty="0"/>
          </a:p>
        </p:txBody>
      </p:sp>
      <p:sp>
        <p:nvSpPr>
          <p:cNvPr id="11" name="Text 9"/>
          <p:cNvSpPr/>
          <p:nvPr/>
        </p:nvSpPr>
        <p:spPr>
          <a:xfrm>
            <a:off x="7315200" y="2103120"/>
            <a:ext cx="4114800" cy="320040"/>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Logs, metrics, traces</a:t>
            </a:r>
            <a:endParaRPr lang="en-US" sz="1250" dirty="0"/>
          </a:p>
        </p:txBody>
      </p:sp>
      <p:sp>
        <p:nvSpPr>
          <p:cNvPr id="12" name="Shape 10"/>
          <p:cNvSpPr/>
          <p:nvPr/>
        </p:nvSpPr>
        <p:spPr>
          <a:xfrm>
            <a:off x="640080" y="2679192"/>
            <a:ext cx="5394960" cy="914400"/>
          </a:xfrm>
          <a:prstGeom prst="rect">
            <a:avLst/>
          </a:prstGeom>
          <a:solidFill>
            <a:srgbClr val="1B1F2B"/>
          </a:solidFill>
          <a:ln w="12700">
            <a:solidFill>
              <a:srgbClr val="232838"/>
            </a:solidFill>
            <a:prstDash val="solid"/>
          </a:ln>
        </p:spPr>
      </p:sp>
      <p:sp>
        <p:nvSpPr>
          <p:cNvPr id="13" name="Text 11"/>
          <p:cNvSpPr/>
          <p:nvPr/>
        </p:nvSpPr>
        <p:spPr>
          <a:xfrm>
            <a:off x="822960" y="2843784"/>
            <a:ext cx="868680" cy="640080"/>
          </a:xfrm>
          <a:prstGeom prst="rect">
            <a:avLst/>
          </a:prstGeom>
          <a:noFill/>
          <a:ln/>
        </p:spPr>
        <p:txBody>
          <a:bodyPr wrap="square" lIns="0" tIns="0" rIns="0" bIns="0" rtlCol="0" anchor="ctr"/>
          <a:lstStyle/>
          <a:p>
            <a:pPr indent="0" marL="0">
              <a:buNone/>
            </a:pPr>
            <a:r>
              <a:rPr lang="en-US" sz="3000" b="1" dirty="0">
                <a:solidFill>
                  <a:srgbClr val="F46800"/>
                </a:solidFill>
                <a:latin typeface="Trebuchet MS" pitchFamily="34" charset="0"/>
                <a:ea typeface="Trebuchet MS" pitchFamily="34" charset="-122"/>
                <a:cs typeface="Trebuchet MS" pitchFamily="34" charset="-120"/>
              </a:rPr>
              <a:t>03</a:t>
            </a:r>
            <a:endParaRPr lang="en-US" sz="3000" dirty="0"/>
          </a:p>
        </p:txBody>
      </p:sp>
      <p:sp>
        <p:nvSpPr>
          <p:cNvPr id="14" name="Text 12"/>
          <p:cNvSpPr/>
          <p:nvPr/>
        </p:nvSpPr>
        <p:spPr>
          <a:xfrm>
            <a:off x="1737360" y="2825496"/>
            <a:ext cx="4114800" cy="365760"/>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Meet the LGTM stack</a:t>
            </a:r>
            <a:endParaRPr lang="en-US" sz="1600" dirty="0"/>
          </a:p>
        </p:txBody>
      </p:sp>
      <p:sp>
        <p:nvSpPr>
          <p:cNvPr id="15" name="Text 13"/>
          <p:cNvSpPr/>
          <p:nvPr/>
        </p:nvSpPr>
        <p:spPr>
          <a:xfrm>
            <a:off x="1737360" y="3182112"/>
            <a:ext cx="4114800" cy="320040"/>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Loki, Grafana, Tempo, Mimir</a:t>
            </a:r>
            <a:endParaRPr lang="en-US" sz="1250" dirty="0"/>
          </a:p>
        </p:txBody>
      </p:sp>
      <p:sp>
        <p:nvSpPr>
          <p:cNvPr id="16" name="Shape 14"/>
          <p:cNvSpPr/>
          <p:nvPr/>
        </p:nvSpPr>
        <p:spPr>
          <a:xfrm>
            <a:off x="6217920" y="2679192"/>
            <a:ext cx="5394960" cy="914400"/>
          </a:xfrm>
          <a:prstGeom prst="rect">
            <a:avLst/>
          </a:prstGeom>
          <a:solidFill>
            <a:srgbClr val="1B1F2B"/>
          </a:solidFill>
          <a:ln w="12700">
            <a:solidFill>
              <a:srgbClr val="232838"/>
            </a:solidFill>
            <a:prstDash val="solid"/>
          </a:ln>
        </p:spPr>
      </p:sp>
      <p:sp>
        <p:nvSpPr>
          <p:cNvPr id="17" name="Text 15"/>
          <p:cNvSpPr/>
          <p:nvPr/>
        </p:nvSpPr>
        <p:spPr>
          <a:xfrm>
            <a:off x="6400800" y="2843784"/>
            <a:ext cx="868680" cy="640080"/>
          </a:xfrm>
          <a:prstGeom prst="rect">
            <a:avLst/>
          </a:prstGeom>
          <a:noFill/>
          <a:ln/>
        </p:spPr>
        <p:txBody>
          <a:bodyPr wrap="square" lIns="0" tIns="0" rIns="0" bIns="0" rtlCol="0" anchor="ctr"/>
          <a:lstStyle/>
          <a:p>
            <a:pPr indent="0" marL="0">
              <a:buNone/>
            </a:pPr>
            <a:r>
              <a:rPr lang="en-US" sz="3000" b="1" dirty="0">
                <a:solidFill>
                  <a:srgbClr val="F46800"/>
                </a:solidFill>
                <a:latin typeface="Trebuchet MS" pitchFamily="34" charset="0"/>
                <a:ea typeface="Trebuchet MS" pitchFamily="34" charset="-122"/>
                <a:cs typeface="Trebuchet MS" pitchFamily="34" charset="-120"/>
              </a:rPr>
              <a:t>04</a:t>
            </a:r>
            <a:endParaRPr lang="en-US" sz="3000" dirty="0"/>
          </a:p>
        </p:txBody>
      </p:sp>
      <p:sp>
        <p:nvSpPr>
          <p:cNvPr id="18" name="Text 16"/>
          <p:cNvSpPr/>
          <p:nvPr/>
        </p:nvSpPr>
        <p:spPr>
          <a:xfrm>
            <a:off x="7315200" y="2825496"/>
            <a:ext cx="4114800" cy="365760"/>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How data flows</a:t>
            </a:r>
            <a:endParaRPr lang="en-US" sz="1600" dirty="0"/>
          </a:p>
        </p:txBody>
      </p:sp>
      <p:sp>
        <p:nvSpPr>
          <p:cNvPr id="19" name="Text 17"/>
          <p:cNvSpPr/>
          <p:nvPr/>
        </p:nvSpPr>
        <p:spPr>
          <a:xfrm>
            <a:off x="7315200" y="3182112"/>
            <a:ext cx="4114800" cy="320040"/>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From your app to a dashboard</a:t>
            </a:r>
            <a:endParaRPr lang="en-US" sz="1250" dirty="0"/>
          </a:p>
        </p:txBody>
      </p:sp>
      <p:sp>
        <p:nvSpPr>
          <p:cNvPr id="20" name="Shape 18"/>
          <p:cNvSpPr/>
          <p:nvPr/>
        </p:nvSpPr>
        <p:spPr>
          <a:xfrm>
            <a:off x="640080" y="3758184"/>
            <a:ext cx="5394960" cy="914400"/>
          </a:xfrm>
          <a:prstGeom prst="rect">
            <a:avLst/>
          </a:prstGeom>
          <a:solidFill>
            <a:srgbClr val="1B1F2B"/>
          </a:solidFill>
          <a:ln w="12700">
            <a:solidFill>
              <a:srgbClr val="232838"/>
            </a:solidFill>
            <a:prstDash val="solid"/>
          </a:ln>
        </p:spPr>
      </p:sp>
      <p:sp>
        <p:nvSpPr>
          <p:cNvPr id="21" name="Text 19"/>
          <p:cNvSpPr/>
          <p:nvPr/>
        </p:nvSpPr>
        <p:spPr>
          <a:xfrm>
            <a:off x="822960" y="3922776"/>
            <a:ext cx="868680" cy="640080"/>
          </a:xfrm>
          <a:prstGeom prst="rect">
            <a:avLst/>
          </a:prstGeom>
          <a:noFill/>
          <a:ln/>
        </p:spPr>
        <p:txBody>
          <a:bodyPr wrap="square" lIns="0" tIns="0" rIns="0" bIns="0" rtlCol="0" anchor="ctr"/>
          <a:lstStyle/>
          <a:p>
            <a:pPr indent="0" marL="0">
              <a:buNone/>
            </a:pPr>
            <a:r>
              <a:rPr lang="en-US" sz="3000" b="1" dirty="0">
                <a:solidFill>
                  <a:srgbClr val="F46800"/>
                </a:solidFill>
                <a:latin typeface="Trebuchet MS" pitchFamily="34" charset="0"/>
                <a:ea typeface="Trebuchet MS" pitchFamily="34" charset="-122"/>
                <a:cs typeface="Trebuchet MS" pitchFamily="34" charset="-120"/>
              </a:rPr>
              <a:t>05</a:t>
            </a:r>
            <a:endParaRPr lang="en-US" sz="3000" dirty="0"/>
          </a:p>
        </p:txBody>
      </p:sp>
      <p:sp>
        <p:nvSpPr>
          <p:cNvPr id="22" name="Text 20"/>
          <p:cNvSpPr/>
          <p:nvPr/>
        </p:nvSpPr>
        <p:spPr>
          <a:xfrm>
            <a:off x="1737360" y="3904488"/>
            <a:ext cx="4114800" cy="365760"/>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Onboarding your service</a:t>
            </a:r>
            <a:endParaRPr lang="en-US" sz="1600" dirty="0"/>
          </a:p>
        </p:txBody>
      </p:sp>
      <p:sp>
        <p:nvSpPr>
          <p:cNvPr id="23" name="Text 21"/>
          <p:cNvSpPr/>
          <p:nvPr/>
        </p:nvSpPr>
        <p:spPr>
          <a:xfrm>
            <a:off x="1737360" y="4261104"/>
            <a:ext cx="4114800" cy="320040"/>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Java + React, step by step</a:t>
            </a:r>
            <a:endParaRPr lang="en-US" sz="1250" dirty="0"/>
          </a:p>
        </p:txBody>
      </p:sp>
      <p:sp>
        <p:nvSpPr>
          <p:cNvPr id="24" name="Shape 22"/>
          <p:cNvSpPr/>
          <p:nvPr/>
        </p:nvSpPr>
        <p:spPr>
          <a:xfrm>
            <a:off x="6217920" y="3758184"/>
            <a:ext cx="5394960" cy="914400"/>
          </a:xfrm>
          <a:prstGeom prst="rect">
            <a:avLst/>
          </a:prstGeom>
          <a:solidFill>
            <a:srgbClr val="1B1F2B"/>
          </a:solidFill>
          <a:ln w="12700">
            <a:solidFill>
              <a:srgbClr val="232838"/>
            </a:solidFill>
            <a:prstDash val="solid"/>
          </a:ln>
        </p:spPr>
      </p:sp>
      <p:sp>
        <p:nvSpPr>
          <p:cNvPr id="25" name="Text 23"/>
          <p:cNvSpPr/>
          <p:nvPr/>
        </p:nvSpPr>
        <p:spPr>
          <a:xfrm>
            <a:off x="6400800" y="3922776"/>
            <a:ext cx="868680" cy="640080"/>
          </a:xfrm>
          <a:prstGeom prst="rect">
            <a:avLst/>
          </a:prstGeom>
          <a:noFill/>
          <a:ln/>
        </p:spPr>
        <p:txBody>
          <a:bodyPr wrap="square" lIns="0" tIns="0" rIns="0" bIns="0" rtlCol="0" anchor="ctr"/>
          <a:lstStyle/>
          <a:p>
            <a:pPr indent="0" marL="0">
              <a:buNone/>
            </a:pPr>
            <a:r>
              <a:rPr lang="en-US" sz="3000" b="1" dirty="0">
                <a:solidFill>
                  <a:srgbClr val="F46800"/>
                </a:solidFill>
                <a:latin typeface="Trebuchet MS" pitchFamily="34" charset="0"/>
                <a:ea typeface="Trebuchet MS" pitchFamily="34" charset="-122"/>
                <a:cs typeface="Trebuchet MS" pitchFamily="34" charset="-120"/>
              </a:rPr>
              <a:t>06</a:t>
            </a:r>
            <a:endParaRPr lang="en-US" sz="3000" dirty="0"/>
          </a:p>
        </p:txBody>
      </p:sp>
      <p:sp>
        <p:nvSpPr>
          <p:cNvPr id="26" name="Text 24"/>
          <p:cNvSpPr/>
          <p:nvPr/>
        </p:nvSpPr>
        <p:spPr>
          <a:xfrm>
            <a:off x="7315200" y="3904488"/>
            <a:ext cx="4114800" cy="365760"/>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Dashboards &amp; alerts</a:t>
            </a:r>
            <a:endParaRPr lang="en-US" sz="1600" dirty="0"/>
          </a:p>
        </p:txBody>
      </p:sp>
      <p:sp>
        <p:nvSpPr>
          <p:cNvPr id="27" name="Text 25"/>
          <p:cNvSpPr/>
          <p:nvPr/>
        </p:nvSpPr>
        <p:spPr>
          <a:xfrm>
            <a:off x="7315200" y="4261104"/>
            <a:ext cx="4114800" cy="320040"/>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Templates, AI, auto-ticketing</a:t>
            </a:r>
            <a:endParaRPr lang="en-US" sz="1250" dirty="0"/>
          </a:p>
        </p:txBody>
      </p:sp>
      <p:sp>
        <p:nvSpPr>
          <p:cNvPr id="28" name="Shape 26"/>
          <p:cNvSpPr/>
          <p:nvPr/>
        </p:nvSpPr>
        <p:spPr>
          <a:xfrm>
            <a:off x="640080" y="4837176"/>
            <a:ext cx="5394960" cy="914400"/>
          </a:xfrm>
          <a:prstGeom prst="rect">
            <a:avLst/>
          </a:prstGeom>
          <a:solidFill>
            <a:srgbClr val="1B1F2B"/>
          </a:solidFill>
          <a:ln w="12700">
            <a:solidFill>
              <a:srgbClr val="232838"/>
            </a:solidFill>
            <a:prstDash val="solid"/>
          </a:ln>
        </p:spPr>
      </p:sp>
      <p:sp>
        <p:nvSpPr>
          <p:cNvPr id="29" name="Text 27"/>
          <p:cNvSpPr/>
          <p:nvPr/>
        </p:nvSpPr>
        <p:spPr>
          <a:xfrm>
            <a:off x="822960" y="5001768"/>
            <a:ext cx="868680" cy="640080"/>
          </a:xfrm>
          <a:prstGeom prst="rect">
            <a:avLst/>
          </a:prstGeom>
          <a:noFill/>
          <a:ln/>
        </p:spPr>
        <p:txBody>
          <a:bodyPr wrap="square" lIns="0" tIns="0" rIns="0" bIns="0" rtlCol="0" anchor="ctr"/>
          <a:lstStyle/>
          <a:p>
            <a:pPr indent="0" marL="0">
              <a:buNone/>
            </a:pPr>
            <a:r>
              <a:rPr lang="en-US" sz="3000" b="1" dirty="0">
                <a:solidFill>
                  <a:srgbClr val="F46800"/>
                </a:solidFill>
                <a:latin typeface="Trebuchet MS" pitchFamily="34" charset="0"/>
                <a:ea typeface="Trebuchet MS" pitchFamily="34" charset="-122"/>
                <a:cs typeface="Trebuchet MS" pitchFamily="34" charset="-120"/>
              </a:rPr>
              <a:t>07</a:t>
            </a:r>
            <a:endParaRPr lang="en-US" sz="3000" dirty="0"/>
          </a:p>
        </p:txBody>
      </p:sp>
      <p:sp>
        <p:nvSpPr>
          <p:cNvPr id="30" name="Text 28"/>
          <p:cNvSpPr/>
          <p:nvPr/>
        </p:nvSpPr>
        <p:spPr>
          <a:xfrm>
            <a:off x="1737360" y="4983480"/>
            <a:ext cx="4114800" cy="365760"/>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The roadmap</a:t>
            </a:r>
            <a:endParaRPr lang="en-US" sz="1600" dirty="0"/>
          </a:p>
        </p:txBody>
      </p:sp>
      <p:sp>
        <p:nvSpPr>
          <p:cNvPr id="31" name="Text 29"/>
          <p:cNvSpPr/>
          <p:nvPr/>
        </p:nvSpPr>
        <p:spPr>
          <a:xfrm>
            <a:off x="1737360" y="5340096"/>
            <a:ext cx="4114800" cy="320040"/>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What's next, incl. Azure</a:t>
            </a:r>
            <a:endParaRPr lang="en-US" sz="1250" dirty="0"/>
          </a:p>
        </p:txBody>
      </p:sp>
      <p:sp>
        <p:nvSpPr>
          <p:cNvPr id="32" name="Shape 30"/>
          <p:cNvSpPr/>
          <p:nvPr/>
        </p:nvSpPr>
        <p:spPr>
          <a:xfrm>
            <a:off x="6217920" y="4837176"/>
            <a:ext cx="5394960" cy="914400"/>
          </a:xfrm>
          <a:prstGeom prst="rect">
            <a:avLst/>
          </a:prstGeom>
          <a:solidFill>
            <a:srgbClr val="1B1F2B"/>
          </a:solidFill>
          <a:ln w="12700">
            <a:solidFill>
              <a:srgbClr val="232838"/>
            </a:solidFill>
            <a:prstDash val="solid"/>
          </a:ln>
        </p:spPr>
      </p:sp>
      <p:sp>
        <p:nvSpPr>
          <p:cNvPr id="33" name="Text 31"/>
          <p:cNvSpPr/>
          <p:nvPr/>
        </p:nvSpPr>
        <p:spPr>
          <a:xfrm>
            <a:off x="6400800" y="5001768"/>
            <a:ext cx="868680" cy="640080"/>
          </a:xfrm>
          <a:prstGeom prst="rect">
            <a:avLst/>
          </a:prstGeom>
          <a:noFill/>
          <a:ln/>
        </p:spPr>
        <p:txBody>
          <a:bodyPr wrap="square" lIns="0" tIns="0" rIns="0" bIns="0" rtlCol="0" anchor="ctr"/>
          <a:lstStyle/>
          <a:p>
            <a:pPr indent="0" marL="0">
              <a:buNone/>
            </a:pPr>
            <a:r>
              <a:rPr lang="en-US" sz="3000" b="1" dirty="0">
                <a:solidFill>
                  <a:srgbClr val="F46800"/>
                </a:solidFill>
                <a:latin typeface="Trebuchet MS" pitchFamily="34" charset="0"/>
                <a:ea typeface="Trebuchet MS" pitchFamily="34" charset="-122"/>
                <a:cs typeface="Trebuchet MS" pitchFamily="34" charset="-120"/>
              </a:rPr>
              <a:t>08</a:t>
            </a:r>
            <a:endParaRPr lang="en-US" sz="3000" dirty="0"/>
          </a:p>
        </p:txBody>
      </p:sp>
      <p:sp>
        <p:nvSpPr>
          <p:cNvPr id="34" name="Text 32"/>
          <p:cNvSpPr/>
          <p:nvPr/>
        </p:nvSpPr>
        <p:spPr>
          <a:xfrm>
            <a:off x="7315200" y="4983480"/>
            <a:ext cx="4114800" cy="365760"/>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Start today</a:t>
            </a:r>
            <a:endParaRPr lang="en-US" sz="1600" dirty="0"/>
          </a:p>
        </p:txBody>
      </p:sp>
      <p:sp>
        <p:nvSpPr>
          <p:cNvPr id="35" name="Text 33"/>
          <p:cNvSpPr/>
          <p:nvPr/>
        </p:nvSpPr>
        <p:spPr>
          <a:xfrm>
            <a:off x="7315200" y="5340096"/>
            <a:ext cx="4114800" cy="320040"/>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Your first step + Q&amp;A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WHY WE MOVED</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Splunk → LGTM</a:t>
            </a:r>
            <a:endParaRPr lang="en-US" sz="3000" dirty="0"/>
          </a:p>
        </p:txBody>
      </p:sp>
      <p:sp>
        <p:nvSpPr>
          <p:cNvPr id="4" name="Shape 2"/>
          <p:cNvSpPr/>
          <p:nvPr/>
        </p:nvSpPr>
        <p:spPr>
          <a:xfrm>
            <a:off x="640080" y="1691640"/>
            <a:ext cx="5349240" cy="4480560"/>
          </a:xfrm>
          <a:prstGeom prst="rect">
            <a:avLst/>
          </a:prstGeom>
          <a:solidFill>
            <a:srgbClr val="1B1F2B"/>
          </a:solidFill>
          <a:ln w="12700">
            <a:solidFill>
              <a:srgbClr val="232838"/>
            </a:solidFill>
            <a:prstDash val="solid"/>
          </a:ln>
        </p:spPr>
      </p:sp>
      <p:sp>
        <p:nvSpPr>
          <p:cNvPr id="5" name="Text 3"/>
          <p:cNvSpPr/>
          <p:nvPr/>
        </p:nvSpPr>
        <p:spPr>
          <a:xfrm>
            <a:off x="914400" y="1920240"/>
            <a:ext cx="4754880" cy="365760"/>
          </a:xfrm>
          <a:prstGeom prst="rect">
            <a:avLst/>
          </a:prstGeom>
          <a:noFill/>
          <a:ln/>
        </p:spPr>
        <p:txBody>
          <a:bodyPr wrap="square" lIns="0" tIns="0" rIns="0" bIns="0" rtlCol="0" anchor="ctr"/>
          <a:lstStyle/>
          <a:p>
            <a:pPr indent="0" marL="0">
              <a:buNone/>
            </a:pPr>
            <a:r>
              <a:rPr lang="en-US" sz="1300" b="1" spc="200" kern="0" dirty="0">
                <a:solidFill>
                  <a:srgbClr val="9BA1AE"/>
                </a:solidFill>
                <a:latin typeface="Calibri" pitchFamily="34" charset="0"/>
                <a:ea typeface="Calibri" pitchFamily="34" charset="-122"/>
                <a:cs typeface="Calibri" pitchFamily="34" charset="-120"/>
              </a:rPr>
              <a:t>BEFORE  ·  SPLUNK</a:t>
            </a:r>
            <a:endParaRPr lang="en-US" sz="1300" dirty="0"/>
          </a:p>
        </p:txBody>
      </p:sp>
      <p:sp>
        <p:nvSpPr>
          <p:cNvPr id="6" name="Text 4"/>
          <p:cNvSpPr/>
          <p:nvPr/>
        </p:nvSpPr>
        <p:spPr>
          <a:xfrm>
            <a:off x="960120" y="2468880"/>
            <a:ext cx="4754880" cy="3291840"/>
          </a:xfrm>
          <a:prstGeom prst="rect">
            <a:avLst/>
          </a:prstGeom>
          <a:noFill/>
          <a:ln/>
        </p:spPr>
        <p:txBody>
          <a:bodyPr wrap="square" lIns="0" tIns="0" rIns="0" bIns="0" rtlCol="0" anchor="ctr"/>
          <a:lstStyle/>
          <a:p>
            <a:pPr marL="342900" indent="-342900">
              <a:spcAft>
                <a:spcPts val="1200"/>
              </a:spcAft>
              <a:buSzPct val="100000"/>
              <a:buChar char="•"/>
            </a:pPr>
            <a:r>
              <a:rPr lang="en-US" sz="1550" dirty="0">
                <a:solidFill>
                  <a:srgbClr val="F4F5F7"/>
                </a:solidFill>
                <a:latin typeface="Calibri" pitchFamily="34" charset="0"/>
                <a:ea typeface="Calibri" pitchFamily="34" charset="-122"/>
                <a:cs typeface="Calibri" pitchFamily="34" charset="-120"/>
              </a:rPr>
              <a:t>Licensing cost scales with data volume</a:t>
            </a:r>
            <a:endParaRPr lang="en-US" sz="1550" dirty="0"/>
          </a:p>
          <a:p>
            <a:pPr marL="342900" indent="-342900">
              <a:spcAft>
                <a:spcPts val="1200"/>
              </a:spcAft>
              <a:buSzPct val="100000"/>
              <a:buChar char="•"/>
            </a:pPr>
            <a:r>
              <a:rPr lang="en-US" sz="1550" dirty="0">
                <a:solidFill>
                  <a:srgbClr val="F4F5F7"/>
                </a:solidFill>
                <a:latin typeface="Calibri" pitchFamily="34" charset="0"/>
                <a:ea typeface="Calibri" pitchFamily="34" charset="-122"/>
                <a:cs typeface="Calibri" pitchFamily="34" charset="-120"/>
              </a:rPr>
              <a:t>Proprietary query language &amp; format</a:t>
            </a:r>
            <a:endParaRPr lang="en-US" sz="1550" dirty="0"/>
          </a:p>
          <a:p>
            <a:pPr marL="342900" indent="-342900">
              <a:spcAft>
                <a:spcPts val="1200"/>
              </a:spcAft>
              <a:buSzPct val="100000"/>
              <a:buChar char="•"/>
            </a:pPr>
            <a:r>
              <a:rPr lang="en-US" sz="1550" dirty="0">
                <a:solidFill>
                  <a:srgbClr val="F4F5F7"/>
                </a:solidFill>
                <a:latin typeface="Calibri" pitchFamily="34" charset="0"/>
                <a:ea typeface="Calibri" pitchFamily="34" charset="-122"/>
                <a:cs typeface="Calibri" pitchFamily="34" charset="-120"/>
              </a:rPr>
              <a:t>Logs strong, but metrics &amp; traces siloed</a:t>
            </a:r>
            <a:endParaRPr lang="en-US" sz="1550" dirty="0"/>
          </a:p>
          <a:p>
            <a:pPr marL="342900" indent="-342900">
              <a:spcAft>
                <a:spcPts val="1200"/>
              </a:spcAft>
              <a:buSzPct val="100000"/>
              <a:buChar char="•"/>
            </a:pPr>
            <a:r>
              <a:rPr lang="en-US" sz="1550" dirty="0">
                <a:solidFill>
                  <a:srgbClr val="F4F5F7"/>
                </a:solidFill>
                <a:latin typeface="Calibri" pitchFamily="34" charset="0"/>
                <a:ea typeface="Calibri" pitchFamily="34" charset="-122"/>
                <a:cs typeface="Calibri" pitchFamily="34" charset="-120"/>
              </a:rPr>
              <a:t>Instrumentation tied to one vendor</a:t>
            </a:r>
            <a:endParaRPr lang="en-US" sz="1550" dirty="0"/>
          </a:p>
        </p:txBody>
      </p:sp>
      <p:sp>
        <p:nvSpPr>
          <p:cNvPr id="7" name="Shape 5"/>
          <p:cNvSpPr/>
          <p:nvPr/>
        </p:nvSpPr>
        <p:spPr>
          <a:xfrm>
            <a:off x="6263640" y="1691640"/>
            <a:ext cx="5349240" cy="4480560"/>
          </a:xfrm>
          <a:prstGeom prst="rect">
            <a:avLst/>
          </a:prstGeom>
          <a:solidFill>
            <a:srgbClr val="1B1F2B"/>
          </a:solidFill>
          <a:ln w="19050">
            <a:solidFill>
              <a:srgbClr val="F46800"/>
            </a:solidFill>
            <a:prstDash val="solid"/>
          </a:ln>
        </p:spPr>
      </p:sp>
      <p:sp>
        <p:nvSpPr>
          <p:cNvPr id="8" name="Text 6"/>
          <p:cNvSpPr/>
          <p:nvPr/>
        </p:nvSpPr>
        <p:spPr>
          <a:xfrm>
            <a:off x="6537960" y="1920240"/>
            <a:ext cx="4754880" cy="365760"/>
          </a:xfrm>
          <a:prstGeom prst="rect">
            <a:avLst/>
          </a:prstGeom>
          <a:noFill/>
          <a:ln/>
        </p:spPr>
        <p:txBody>
          <a:bodyPr wrap="square" lIns="0" tIns="0" rIns="0" bIns="0" rtlCol="0" anchor="ctr"/>
          <a:lstStyle/>
          <a:p>
            <a:pPr indent="0" marL="0">
              <a:buNone/>
            </a:pPr>
            <a:r>
              <a:rPr lang="en-US" sz="1300" b="1" spc="200" kern="0" dirty="0">
                <a:solidFill>
                  <a:srgbClr val="F46800"/>
                </a:solidFill>
                <a:latin typeface="Calibri" pitchFamily="34" charset="0"/>
                <a:ea typeface="Calibri" pitchFamily="34" charset="-122"/>
                <a:cs typeface="Calibri" pitchFamily="34" charset="-120"/>
              </a:rPr>
              <a:t>AFTER  ·  LGTM + OpenTelemetry</a:t>
            </a:r>
            <a:endParaRPr lang="en-US" sz="1300" dirty="0"/>
          </a:p>
        </p:txBody>
      </p:sp>
      <p:sp>
        <p:nvSpPr>
          <p:cNvPr id="9" name="Text 7"/>
          <p:cNvSpPr/>
          <p:nvPr/>
        </p:nvSpPr>
        <p:spPr>
          <a:xfrm>
            <a:off x="6583680" y="2468880"/>
            <a:ext cx="4754880" cy="3291840"/>
          </a:xfrm>
          <a:prstGeom prst="rect">
            <a:avLst/>
          </a:prstGeom>
          <a:noFill/>
          <a:ln/>
        </p:spPr>
        <p:txBody>
          <a:bodyPr wrap="square" lIns="0" tIns="0" rIns="0" bIns="0" rtlCol="0" anchor="ctr"/>
          <a:lstStyle/>
          <a:p>
            <a:pPr marL="342900" indent="-342900">
              <a:spcAft>
                <a:spcPts val="1200"/>
              </a:spcAft>
              <a:buSzPct val="100000"/>
              <a:buChar char="•"/>
            </a:pPr>
            <a:r>
              <a:rPr lang="en-US" sz="1550" dirty="0">
                <a:solidFill>
                  <a:srgbClr val="F4F5F7"/>
                </a:solidFill>
                <a:latin typeface="Calibri" pitchFamily="34" charset="0"/>
                <a:ea typeface="Calibri" pitchFamily="34" charset="-122"/>
                <a:cs typeface="Calibri" pitchFamily="34" charset="-120"/>
              </a:rPr>
              <a:t>Open-source core — cost tracks infra, not licences</a:t>
            </a:r>
            <a:endParaRPr lang="en-US" sz="1550" dirty="0"/>
          </a:p>
          <a:p>
            <a:pPr marL="342900" indent="-342900">
              <a:spcAft>
                <a:spcPts val="1200"/>
              </a:spcAft>
              <a:buSzPct val="100000"/>
              <a:buChar char="•"/>
            </a:pPr>
            <a:r>
              <a:rPr lang="en-US" sz="1550" dirty="0">
                <a:solidFill>
                  <a:srgbClr val="F4F5F7"/>
                </a:solidFill>
                <a:latin typeface="Calibri" pitchFamily="34" charset="0"/>
                <a:ea typeface="Calibri" pitchFamily="34" charset="-122"/>
                <a:cs typeface="Calibri" pitchFamily="34" charset="-120"/>
              </a:rPr>
              <a:t>Open standards: OpenTelemetry, PromQL, LogQL</a:t>
            </a:r>
            <a:endParaRPr lang="en-US" sz="1550" dirty="0"/>
          </a:p>
          <a:p>
            <a:pPr marL="342900" indent="-342900">
              <a:spcAft>
                <a:spcPts val="1200"/>
              </a:spcAft>
              <a:buSzPct val="100000"/>
              <a:buChar char="•"/>
            </a:pPr>
            <a:r>
              <a:rPr lang="en-US" sz="1550" dirty="0">
                <a:solidFill>
                  <a:srgbClr val="F4F5F7"/>
                </a:solidFill>
                <a:latin typeface="Calibri" pitchFamily="34" charset="0"/>
                <a:ea typeface="Calibri" pitchFamily="34" charset="-122"/>
                <a:cs typeface="Calibri" pitchFamily="34" charset="-120"/>
              </a:rPr>
              <a:t>Logs + metrics + traces, correlated in one place</a:t>
            </a:r>
            <a:endParaRPr lang="en-US" sz="1550" dirty="0"/>
          </a:p>
          <a:p>
            <a:pPr marL="342900" indent="-342900">
              <a:spcAft>
                <a:spcPts val="1200"/>
              </a:spcAft>
              <a:buSzPct val="100000"/>
              <a:buChar char="•"/>
            </a:pPr>
            <a:r>
              <a:rPr lang="en-US" sz="1550" dirty="0">
                <a:solidFill>
                  <a:srgbClr val="F4F5F7"/>
                </a:solidFill>
                <a:latin typeface="Calibri" pitchFamily="34" charset="0"/>
                <a:ea typeface="Calibri" pitchFamily="34" charset="-122"/>
                <a:cs typeface="Calibri" pitchFamily="34" charset="-120"/>
              </a:rPr>
              <a:t>Vendor-neutral instrumentation you own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THE FOUNDATION</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Three signals tell you everything</a:t>
            </a:r>
            <a:endParaRPr lang="en-US" sz="3000" dirty="0"/>
          </a:p>
        </p:txBody>
      </p:sp>
      <p:sp>
        <p:nvSpPr>
          <p:cNvPr id="4" name="Text 2"/>
          <p:cNvSpPr/>
          <p:nvPr/>
        </p:nvSpPr>
        <p:spPr>
          <a:xfrm>
            <a:off x="640080" y="1371600"/>
            <a:ext cx="10515600" cy="365760"/>
          </a:xfrm>
          <a:prstGeom prst="rect">
            <a:avLst/>
          </a:prstGeom>
          <a:noFill/>
          <a:ln/>
        </p:spPr>
        <p:txBody>
          <a:bodyPr wrap="square" lIns="0" tIns="0" rIns="0" bIns="0" rtlCol="0" anchor="ctr"/>
          <a:lstStyle/>
          <a:p>
            <a:pPr indent="0" marL="0">
              <a:buNone/>
            </a:pPr>
            <a:r>
              <a:rPr lang="en-US" sz="1500" dirty="0">
                <a:solidFill>
                  <a:srgbClr val="9BA1AE"/>
                </a:solidFill>
                <a:latin typeface="Calibri" pitchFamily="34" charset="0"/>
                <a:ea typeface="Calibri" pitchFamily="34" charset="-122"/>
                <a:cs typeface="Calibri" pitchFamily="34" charset="-120"/>
              </a:rPr>
              <a:t>If a request is slow or broken, these three answer “what, how much, and where.”</a:t>
            </a:r>
            <a:endParaRPr lang="en-US" sz="1500" dirty="0"/>
          </a:p>
        </p:txBody>
      </p:sp>
      <p:sp>
        <p:nvSpPr>
          <p:cNvPr id="5" name="Shape 3"/>
          <p:cNvSpPr/>
          <p:nvPr/>
        </p:nvSpPr>
        <p:spPr>
          <a:xfrm>
            <a:off x="640080" y="1965960"/>
            <a:ext cx="3429000" cy="402336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6" name="Shape 4"/>
          <p:cNvSpPr/>
          <p:nvPr/>
        </p:nvSpPr>
        <p:spPr>
          <a:xfrm>
            <a:off x="960120" y="2286000"/>
            <a:ext cx="868680" cy="868680"/>
          </a:xfrm>
          <a:prstGeom prst="ellipse">
            <a:avLst/>
          </a:prstGeom>
          <a:solidFill>
            <a:srgbClr val="232838"/>
          </a:solidFill>
          <a:ln/>
        </p:spPr>
      </p:sp>
      <p:pic>
        <p:nvPicPr>
          <p:cNvPr id="7" name="Image 0" descr="preencoded.png">    </p:cNvPr>
          <p:cNvPicPr>
            <a:picLocks noChangeAspect="1"/>
          </p:cNvPicPr>
          <p:nvPr/>
        </p:nvPicPr>
        <p:blipFill>
          <a:blip r:embed="rId1"/>
          <a:stretch>
            <a:fillRect/>
          </a:stretch>
        </p:blipFill>
        <p:spPr>
          <a:xfrm>
            <a:off x="1161288" y="2487168"/>
            <a:ext cx="457200" cy="457200"/>
          </a:xfrm>
          <a:prstGeom prst="rect">
            <a:avLst/>
          </a:prstGeom>
        </p:spPr>
      </p:pic>
      <p:sp>
        <p:nvSpPr>
          <p:cNvPr id="8" name="Text 5"/>
          <p:cNvSpPr/>
          <p:nvPr/>
        </p:nvSpPr>
        <p:spPr>
          <a:xfrm>
            <a:off x="960120" y="3291840"/>
            <a:ext cx="2834640" cy="365760"/>
          </a:xfrm>
          <a:prstGeom prst="rect">
            <a:avLst/>
          </a:prstGeom>
          <a:noFill/>
          <a:ln/>
        </p:spPr>
        <p:txBody>
          <a:bodyPr wrap="square" lIns="0" tIns="0" rIns="0" bIns="0" rtlCol="0" anchor="ctr"/>
          <a:lstStyle/>
          <a:p>
            <a:pPr indent="0" marL="0">
              <a:buNone/>
            </a:pPr>
            <a:r>
              <a:rPr lang="en-US" sz="2000" b="1" dirty="0">
                <a:solidFill>
                  <a:srgbClr val="F46800"/>
                </a:solidFill>
                <a:latin typeface="Trebuchet MS" pitchFamily="34" charset="0"/>
                <a:ea typeface="Trebuchet MS" pitchFamily="34" charset="-122"/>
                <a:cs typeface="Trebuchet MS" pitchFamily="34" charset="-120"/>
              </a:rPr>
              <a:t>LOGS</a:t>
            </a:r>
            <a:endParaRPr lang="en-US" sz="2000" dirty="0"/>
          </a:p>
        </p:txBody>
      </p:sp>
      <p:sp>
        <p:nvSpPr>
          <p:cNvPr id="9" name="Text 6"/>
          <p:cNvSpPr/>
          <p:nvPr/>
        </p:nvSpPr>
        <p:spPr>
          <a:xfrm>
            <a:off x="960120" y="3657600"/>
            <a:ext cx="2834640" cy="32004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What happened</a:t>
            </a:r>
            <a:endParaRPr lang="en-US" sz="1350" dirty="0"/>
          </a:p>
        </p:txBody>
      </p:sp>
      <p:sp>
        <p:nvSpPr>
          <p:cNvPr id="10" name="Text 7"/>
          <p:cNvSpPr/>
          <p:nvPr/>
        </p:nvSpPr>
        <p:spPr>
          <a:xfrm>
            <a:off x="960120" y="4069080"/>
            <a:ext cx="2834640" cy="1645920"/>
          </a:xfrm>
          <a:prstGeom prst="rect">
            <a:avLst/>
          </a:prstGeom>
          <a:noFill/>
          <a:ln/>
        </p:spPr>
        <p:txBody>
          <a:bodyPr wrap="square" lIns="0" tIns="0" rIns="0" bIns="0" rtlCol="0" anchor="ctr"/>
          <a:lstStyle/>
          <a:p>
            <a:pPr indent="0" marL="0">
              <a:buNone/>
            </a:pPr>
            <a:r>
              <a:rPr lang="en-US" sz="1350" dirty="0">
                <a:solidFill>
                  <a:srgbClr val="9BA1AE"/>
                </a:solidFill>
                <a:latin typeface="Calibri" pitchFamily="34" charset="0"/>
                <a:ea typeface="Calibri" pitchFamily="34" charset="-122"/>
                <a:cs typeface="Calibri" pitchFamily="34" charset="-120"/>
              </a:rPr>
              <a:t>Timestamped event records — the story in words. “Order 8841 failed validation.”</a:t>
            </a:r>
            <a:endParaRPr lang="en-US" sz="1350" dirty="0"/>
          </a:p>
        </p:txBody>
      </p:sp>
      <p:sp>
        <p:nvSpPr>
          <p:cNvPr id="11" name="Shape 8"/>
          <p:cNvSpPr/>
          <p:nvPr/>
        </p:nvSpPr>
        <p:spPr>
          <a:xfrm>
            <a:off x="4297680" y="1965960"/>
            <a:ext cx="3429000" cy="402336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12" name="Shape 9"/>
          <p:cNvSpPr/>
          <p:nvPr/>
        </p:nvSpPr>
        <p:spPr>
          <a:xfrm>
            <a:off x="4617720" y="2286000"/>
            <a:ext cx="868680" cy="868680"/>
          </a:xfrm>
          <a:prstGeom prst="ellipse">
            <a:avLst/>
          </a:prstGeom>
          <a:solidFill>
            <a:srgbClr val="232838"/>
          </a:solidFill>
          <a:ln/>
        </p:spPr>
      </p:sp>
      <p:pic>
        <p:nvPicPr>
          <p:cNvPr id="13" name="Image 1" descr="preencoded.png">    </p:cNvPr>
          <p:cNvPicPr>
            <a:picLocks noChangeAspect="1"/>
          </p:cNvPicPr>
          <p:nvPr/>
        </p:nvPicPr>
        <p:blipFill>
          <a:blip r:embed="rId2"/>
          <a:stretch>
            <a:fillRect/>
          </a:stretch>
        </p:blipFill>
        <p:spPr>
          <a:xfrm>
            <a:off x="4818888" y="2487168"/>
            <a:ext cx="457200" cy="457200"/>
          </a:xfrm>
          <a:prstGeom prst="rect">
            <a:avLst/>
          </a:prstGeom>
        </p:spPr>
      </p:pic>
      <p:sp>
        <p:nvSpPr>
          <p:cNvPr id="14" name="Text 10"/>
          <p:cNvSpPr/>
          <p:nvPr/>
        </p:nvSpPr>
        <p:spPr>
          <a:xfrm>
            <a:off x="4617720" y="3291840"/>
            <a:ext cx="2834640" cy="365760"/>
          </a:xfrm>
          <a:prstGeom prst="rect">
            <a:avLst/>
          </a:prstGeom>
          <a:noFill/>
          <a:ln/>
        </p:spPr>
        <p:txBody>
          <a:bodyPr wrap="square" lIns="0" tIns="0" rIns="0" bIns="0" rtlCol="0" anchor="ctr"/>
          <a:lstStyle/>
          <a:p>
            <a:pPr indent="0" marL="0">
              <a:buNone/>
            </a:pPr>
            <a:r>
              <a:rPr lang="en-US" sz="2000" b="1" dirty="0">
                <a:solidFill>
                  <a:srgbClr val="73BF69"/>
                </a:solidFill>
                <a:latin typeface="Trebuchet MS" pitchFamily="34" charset="0"/>
                <a:ea typeface="Trebuchet MS" pitchFamily="34" charset="-122"/>
                <a:cs typeface="Trebuchet MS" pitchFamily="34" charset="-120"/>
              </a:rPr>
              <a:t>METRICS</a:t>
            </a:r>
            <a:endParaRPr lang="en-US" sz="2000" dirty="0"/>
          </a:p>
        </p:txBody>
      </p:sp>
      <p:sp>
        <p:nvSpPr>
          <p:cNvPr id="15" name="Text 11"/>
          <p:cNvSpPr/>
          <p:nvPr/>
        </p:nvSpPr>
        <p:spPr>
          <a:xfrm>
            <a:off x="4617720" y="3657600"/>
            <a:ext cx="2834640" cy="32004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How much / how often</a:t>
            </a:r>
            <a:endParaRPr lang="en-US" sz="1350" dirty="0"/>
          </a:p>
        </p:txBody>
      </p:sp>
      <p:sp>
        <p:nvSpPr>
          <p:cNvPr id="16" name="Text 12"/>
          <p:cNvSpPr/>
          <p:nvPr/>
        </p:nvSpPr>
        <p:spPr>
          <a:xfrm>
            <a:off x="4617720" y="4069080"/>
            <a:ext cx="2834640" cy="1645920"/>
          </a:xfrm>
          <a:prstGeom prst="rect">
            <a:avLst/>
          </a:prstGeom>
          <a:noFill/>
          <a:ln/>
        </p:spPr>
        <p:txBody>
          <a:bodyPr wrap="square" lIns="0" tIns="0" rIns="0" bIns="0" rtlCol="0" anchor="ctr"/>
          <a:lstStyle/>
          <a:p>
            <a:pPr indent="0" marL="0">
              <a:buNone/>
            </a:pPr>
            <a:r>
              <a:rPr lang="en-US" sz="1350" dirty="0">
                <a:solidFill>
                  <a:srgbClr val="9BA1AE"/>
                </a:solidFill>
                <a:latin typeface="Calibri" pitchFamily="34" charset="0"/>
                <a:ea typeface="Calibri" pitchFamily="34" charset="-122"/>
                <a:cs typeface="Calibri" pitchFamily="34" charset="-120"/>
              </a:rPr>
              <a:t>Numbers over time — latency, error rate, throughput. Great for trends &amp; alerts.</a:t>
            </a:r>
            <a:endParaRPr lang="en-US" sz="1350" dirty="0"/>
          </a:p>
        </p:txBody>
      </p:sp>
      <p:sp>
        <p:nvSpPr>
          <p:cNvPr id="17" name="Shape 13"/>
          <p:cNvSpPr/>
          <p:nvPr/>
        </p:nvSpPr>
        <p:spPr>
          <a:xfrm>
            <a:off x="7955280" y="1965960"/>
            <a:ext cx="3429000" cy="402336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18" name="Shape 14"/>
          <p:cNvSpPr/>
          <p:nvPr/>
        </p:nvSpPr>
        <p:spPr>
          <a:xfrm>
            <a:off x="8275320" y="2286000"/>
            <a:ext cx="868680" cy="868680"/>
          </a:xfrm>
          <a:prstGeom prst="ellipse">
            <a:avLst/>
          </a:prstGeom>
          <a:solidFill>
            <a:srgbClr val="232838"/>
          </a:solidFill>
          <a:ln/>
        </p:spPr>
      </p:sp>
      <p:pic>
        <p:nvPicPr>
          <p:cNvPr id="19" name="Image 2" descr="preencoded.png">    </p:cNvPr>
          <p:cNvPicPr>
            <a:picLocks noChangeAspect="1"/>
          </p:cNvPicPr>
          <p:nvPr/>
        </p:nvPicPr>
        <p:blipFill>
          <a:blip r:embed="rId3"/>
          <a:stretch>
            <a:fillRect/>
          </a:stretch>
        </p:blipFill>
        <p:spPr>
          <a:xfrm>
            <a:off x="8476488" y="2487168"/>
            <a:ext cx="457200" cy="457200"/>
          </a:xfrm>
          <a:prstGeom prst="rect">
            <a:avLst/>
          </a:prstGeom>
        </p:spPr>
      </p:pic>
      <p:sp>
        <p:nvSpPr>
          <p:cNvPr id="20" name="Text 15"/>
          <p:cNvSpPr/>
          <p:nvPr/>
        </p:nvSpPr>
        <p:spPr>
          <a:xfrm>
            <a:off x="8275320" y="3291840"/>
            <a:ext cx="2834640" cy="365760"/>
          </a:xfrm>
          <a:prstGeom prst="rect">
            <a:avLst/>
          </a:prstGeom>
          <a:noFill/>
          <a:ln/>
        </p:spPr>
        <p:txBody>
          <a:bodyPr wrap="square" lIns="0" tIns="0" rIns="0" bIns="0" rtlCol="0" anchor="ctr"/>
          <a:lstStyle/>
          <a:p>
            <a:pPr indent="0" marL="0">
              <a:buNone/>
            </a:pPr>
            <a:r>
              <a:rPr lang="en-US" sz="2000" b="1" dirty="0">
                <a:solidFill>
                  <a:srgbClr val="5BA4F4"/>
                </a:solidFill>
                <a:latin typeface="Trebuchet MS" pitchFamily="34" charset="0"/>
                <a:ea typeface="Trebuchet MS" pitchFamily="34" charset="-122"/>
                <a:cs typeface="Trebuchet MS" pitchFamily="34" charset="-120"/>
              </a:rPr>
              <a:t>TRACES</a:t>
            </a:r>
            <a:endParaRPr lang="en-US" sz="2000" dirty="0"/>
          </a:p>
        </p:txBody>
      </p:sp>
      <p:sp>
        <p:nvSpPr>
          <p:cNvPr id="21" name="Text 16"/>
          <p:cNvSpPr/>
          <p:nvPr/>
        </p:nvSpPr>
        <p:spPr>
          <a:xfrm>
            <a:off x="8275320" y="3657600"/>
            <a:ext cx="2834640" cy="320040"/>
          </a:xfrm>
          <a:prstGeom prst="rect">
            <a:avLst/>
          </a:prstGeom>
          <a:noFill/>
          <a:ln/>
        </p:spPr>
        <p:txBody>
          <a:bodyPr wrap="square" lIns="0" tIns="0" rIns="0" bIns="0" rtlCol="0" anchor="ctr"/>
          <a:lstStyle/>
          <a:p>
            <a:pPr indent="0" marL="0">
              <a:buNone/>
            </a:pPr>
            <a:r>
              <a:rPr lang="en-US" sz="1350" b="1" dirty="0">
                <a:solidFill>
                  <a:srgbClr val="F4F5F7"/>
                </a:solidFill>
                <a:latin typeface="Calibri" pitchFamily="34" charset="0"/>
                <a:ea typeface="Calibri" pitchFamily="34" charset="-122"/>
                <a:cs typeface="Calibri" pitchFamily="34" charset="-120"/>
              </a:rPr>
              <a:t>Where it happened</a:t>
            </a:r>
            <a:endParaRPr lang="en-US" sz="1350" dirty="0"/>
          </a:p>
        </p:txBody>
      </p:sp>
      <p:sp>
        <p:nvSpPr>
          <p:cNvPr id="22" name="Text 17"/>
          <p:cNvSpPr/>
          <p:nvPr/>
        </p:nvSpPr>
        <p:spPr>
          <a:xfrm>
            <a:off x="8275320" y="4069080"/>
            <a:ext cx="2834640" cy="1645920"/>
          </a:xfrm>
          <a:prstGeom prst="rect">
            <a:avLst/>
          </a:prstGeom>
          <a:noFill/>
          <a:ln/>
        </p:spPr>
        <p:txBody>
          <a:bodyPr wrap="square" lIns="0" tIns="0" rIns="0" bIns="0" rtlCol="0" anchor="ctr"/>
          <a:lstStyle/>
          <a:p>
            <a:pPr indent="0" marL="0">
              <a:buNone/>
            </a:pPr>
            <a:r>
              <a:rPr lang="en-US" sz="1350" dirty="0">
                <a:solidFill>
                  <a:srgbClr val="9BA1AE"/>
                </a:solidFill>
                <a:latin typeface="Calibri" pitchFamily="34" charset="0"/>
                <a:ea typeface="Calibri" pitchFamily="34" charset="-122"/>
                <a:cs typeface="Calibri" pitchFamily="34" charset="-120"/>
              </a:rPr>
              <a:t>The path of one request across services — find the slow hop in a chain of calls.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THE TOOLKIT</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Meet the LGTM stack</a:t>
            </a:r>
            <a:endParaRPr lang="en-US" sz="3000" dirty="0"/>
          </a:p>
        </p:txBody>
      </p:sp>
      <p:sp>
        <p:nvSpPr>
          <p:cNvPr id="4" name="Shape 2"/>
          <p:cNvSpPr/>
          <p:nvPr/>
        </p:nvSpPr>
        <p:spPr>
          <a:xfrm>
            <a:off x="640080" y="1554480"/>
            <a:ext cx="5394960" cy="205740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5" name="Shape 3"/>
          <p:cNvSpPr/>
          <p:nvPr/>
        </p:nvSpPr>
        <p:spPr>
          <a:xfrm>
            <a:off x="640080" y="1554480"/>
            <a:ext cx="1371600" cy="2057400"/>
          </a:xfrm>
          <a:prstGeom prst="rect">
            <a:avLst/>
          </a:prstGeom>
          <a:solidFill>
            <a:srgbClr val="232838"/>
          </a:solidFill>
          <a:ln/>
        </p:spPr>
      </p:sp>
      <p:sp>
        <p:nvSpPr>
          <p:cNvPr id="6" name="Text 4"/>
          <p:cNvSpPr/>
          <p:nvPr/>
        </p:nvSpPr>
        <p:spPr>
          <a:xfrm>
            <a:off x="640080" y="2057400"/>
            <a:ext cx="1371600" cy="1005840"/>
          </a:xfrm>
          <a:prstGeom prst="rect">
            <a:avLst/>
          </a:prstGeom>
          <a:noFill/>
          <a:ln/>
        </p:spPr>
        <p:txBody>
          <a:bodyPr wrap="square" lIns="0" tIns="0" rIns="0" bIns="0" rtlCol="0" anchor="ctr"/>
          <a:lstStyle/>
          <a:p>
            <a:pPr algn="ctr" indent="0" marL="0">
              <a:buNone/>
            </a:pPr>
            <a:r>
              <a:rPr lang="en-US" sz="6000" b="1" dirty="0">
                <a:solidFill>
                  <a:srgbClr val="F46800"/>
                </a:solidFill>
                <a:latin typeface="Trebuchet MS" pitchFamily="34" charset="0"/>
                <a:ea typeface="Trebuchet MS" pitchFamily="34" charset="-122"/>
                <a:cs typeface="Trebuchet MS" pitchFamily="34" charset="-120"/>
              </a:rPr>
              <a:t>L</a:t>
            </a:r>
            <a:endParaRPr lang="en-US" sz="6000" dirty="0"/>
          </a:p>
        </p:txBody>
      </p:sp>
      <p:sp>
        <p:nvSpPr>
          <p:cNvPr id="7" name="Text 5"/>
          <p:cNvSpPr/>
          <p:nvPr/>
        </p:nvSpPr>
        <p:spPr>
          <a:xfrm>
            <a:off x="2240280" y="1828800"/>
            <a:ext cx="3566160" cy="457200"/>
          </a:xfrm>
          <a:prstGeom prst="rect">
            <a:avLst/>
          </a:prstGeom>
          <a:noFill/>
          <a:ln/>
        </p:spPr>
        <p:txBody>
          <a:bodyPr wrap="square" lIns="0" tIns="0" rIns="0" bIns="0" rtlCol="0" anchor="ctr"/>
          <a:lstStyle/>
          <a:p>
            <a:pPr indent="0" marL="0">
              <a:buNone/>
            </a:pPr>
            <a:r>
              <a:rPr lang="en-US" sz="2400" b="1" dirty="0">
                <a:solidFill>
                  <a:srgbClr val="F4F5F7"/>
                </a:solidFill>
                <a:latin typeface="Trebuchet MS" pitchFamily="34" charset="0"/>
                <a:ea typeface="Trebuchet MS" pitchFamily="34" charset="-122"/>
                <a:cs typeface="Trebuchet MS" pitchFamily="34" charset="-120"/>
              </a:rPr>
              <a:t>Loki</a:t>
            </a:r>
            <a:endParaRPr lang="en-US" sz="2400" dirty="0"/>
          </a:p>
        </p:txBody>
      </p:sp>
      <p:sp>
        <p:nvSpPr>
          <p:cNvPr id="8" name="Text 6"/>
          <p:cNvSpPr/>
          <p:nvPr/>
        </p:nvSpPr>
        <p:spPr>
          <a:xfrm>
            <a:off x="2240280" y="2331720"/>
            <a:ext cx="3566160" cy="365760"/>
          </a:xfrm>
          <a:prstGeom prst="rect">
            <a:avLst/>
          </a:prstGeom>
          <a:noFill/>
          <a:ln/>
        </p:spPr>
        <p:txBody>
          <a:bodyPr wrap="square" lIns="0" tIns="0" rIns="0" bIns="0" rtlCol="0" anchor="ctr"/>
          <a:lstStyle/>
          <a:p>
            <a:pPr indent="0" marL="0">
              <a:buNone/>
            </a:pPr>
            <a:r>
              <a:rPr lang="en-US" sz="1450" b="1" dirty="0">
                <a:solidFill>
                  <a:srgbClr val="F46800"/>
                </a:solidFill>
                <a:latin typeface="Calibri" pitchFamily="34" charset="0"/>
                <a:ea typeface="Calibri" pitchFamily="34" charset="-122"/>
                <a:cs typeface="Calibri" pitchFamily="34" charset="-120"/>
              </a:rPr>
              <a:t>Stores &amp; searches LOGS</a:t>
            </a:r>
            <a:endParaRPr lang="en-US" sz="1450" dirty="0"/>
          </a:p>
        </p:txBody>
      </p:sp>
      <p:sp>
        <p:nvSpPr>
          <p:cNvPr id="9" name="Text 7"/>
          <p:cNvSpPr/>
          <p:nvPr/>
        </p:nvSpPr>
        <p:spPr>
          <a:xfrm>
            <a:off x="2240280" y="2724912"/>
            <a:ext cx="3611880" cy="731520"/>
          </a:xfrm>
          <a:prstGeom prst="rect">
            <a:avLst/>
          </a:prstGeom>
          <a:noFill/>
          <a:ln/>
        </p:spPr>
        <p:txBody>
          <a:bodyPr wrap="square" lIns="0" tIns="0" rIns="0" bIns="0" rtlCol="0" anchor="ctr"/>
          <a:lstStyle/>
          <a:p>
            <a:pPr indent="0" marL="0">
              <a:buNone/>
            </a:pPr>
            <a:r>
              <a:rPr lang="en-US" sz="1350" dirty="0">
                <a:solidFill>
                  <a:srgbClr val="9BA1AE"/>
                </a:solidFill>
                <a:latin typeface="Calibri" pitchFamily="34" charset="0"/>
                <a:ea typeface="Calibri" pitchFamily="34" charset="-122"/>
                <a:cs typeface="Calibri" pitchFamily="34" charset="-120"/>
              </a:rPr>
              <a:t>Like a log database. Query with LogQL.</a:t>
            </a:r>
            <a:endParaRPr lang="en-US" sz="1350" dirty="0"/>
          </a:p>
        </p:txBody>
      </p:sp>
      <p:sp>
        <p:nvSpPr>
          <p:cNvPr id="10" name="Shape 8"/>
          <p:cNvSpPr/>
          <p:nvPr/>
        </p:nvSpPr>
        <p:spPr>
          <a:xfrm>
            <a:off x="6217920" y="1554480"/>
            <a:ext cx="5394960" cy="205740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11" name="Shape 9"/>
          <p:cNvSpPr/>
          <p:nvPr/>
        </p:nvSpPr>
        <p:spPr>
          <a:xfrm>
            <a:off x="6217920" y="1554480"/>
            <a:ext cx="1371600" cy="2057400"/>
          </a:xfrm>
          <a:prstGeom prst="rect">
            <a:avLst/>
          </a:prstGeom>
          <a:solidFill>
            <a:srgbClr val="232838"/>
          </a:solidFill>
          <a:ln/>
        </p:spPr>
      </p:sp>
      <p:sp>
        <p:nvSpPr>
          <p:cNvPr id="12" name="Text 10"/>
          <p:cNvSpPr/>
          <p:nvPr/>
        </p:nvSpPr>
        <p:spPr>
          <a:xfrm>
            <a:off x="6217920" y="2057400"/>
            <a:ext cx="1371600" cy="1005840"/>
          </a:xfrm>
          <a:prstGeom prst="rect">
            <a:avLst/>
          </a:prstGeom>
          <a:noFill/>
          <a:ln/>
        </p:spPr>
        <p:txBody>
          <a:bodyPr wrap="square" lIns="0" tIns="0" rIns="0" bIns="0" rtlCol="0" anchor="ctr"/>
          <a:lstStyle/>
          <a:p>
            <a:pPr algn="ctr" indent="0" marL="0">
              <a:buNone/>
            </a:pPr>
            <a:r>
              <a:rPr lang="en-US" sz="6000" b="1" dirty="0">
                <a:solidFill>
                  <a:srgbClr val="33C5C9"/>
                </a:solidFill>
                <a:latin typeface="Trebuchet MS" pitchFamily="34" charset="0"/>
                <a:ea typeface="Trebuchet MS" pitchFamily="34" charset="-122"/>
                <a:cs typeface="Trebuchet MS" pitchFamily="34" charset="-120"/>
              </a:rPr>
              <a:t>G</a:t>
            </a:r>
            <a:endParaRPr lang="en-US" sz="6000" dirty="0"/>
          </a:p>
        </p:txBody>
      </p:sp>
      <p:sp>
        <p:nvSpPr>
          <p:cNvPr id="13" name="Text 11"/>
          <p:cNvSpPr/>
          <p:nvPr/>
        </p:nvSpPr>
        <p:spPr>
          <a:xfrm>
            <a:off x="7818120" y="1828800"/>
            <a:ext cx="3566160" cy="457200"/>
          </a:xfrm>
          <a:prstGeom prst="rect">
            <a:avLst/>
          </a:prstGeom>
          <a:noFill/>
          <a:ln/>
        </p:spPr>
        <p:txBody>
          <a:bodyPr wrap="square" lIns="0" tIns="0" rIns="0" bIns="0" rtlCol="0" anchor="ctr"/>
          <a:lstStyle/>
          <a:p>
            <a:pPr indent="0" marL="0">
              <a:buNone/>
            </a:pPr>
            <a:r>
              <a:rPr lang="en-US" sz="2400" b="1" dirty="0">
                <a:solidFill>
                  <a:srgbClr val="F4F5F7"/>
                </a:solidFill>
                <a:latin typeface="Trebuchet MS" pitchFamily="34" charset="0"/>
                <a:ea typeface="Trebuchet MS" pitchFamily="34" charset="-122"/>
                <a:cs typeface="Trebuchet MS" pitchFamily="34" charset="-120"/>
              </a:rPr>
              <a:t>Grafana</a:t>
            </a:r>
            <a:endParaRPr lang="en-US" sz="2400" dirty="0"/>
          </a:p>
        </p:txBody>
      </p:sp>
      <p:sp>
        <p:nvSpPr>
          <p:cNvPr id="14" name="Text 12"/>
          <p:cNvSpPr/>
          <p:nvPr/>
        </p:nvSpPr>
        <p:spPr>
          <a:xfrm>
            <a:off x="7818120" y="2331720"/>
            <a:ext cx="3566160" cy="365760"/>
          </a:xfrm>
          <a:prstGeom prst="rect">
            <a:avLst/>
          </a:prstGeom>
          <a:noFill/>
          <a:ln/>
        </p:spPr>
        <p:txBody>
          <a:bodyPr wrap="square" lIns="0" tIns="0" rIns="0" bIns="0" rtlCol="0" anchor="ctr"/>
          <a:lstStyle/>
          <a:p>
            <a:pPr indent="0" marL="0">
              <a:buNone/>
            </a:pPr>
            <a:r>
              <a:rPr lang="en-US" sz="1450" b="1" dirty="0">
                <a:solidFill>
                  <a:srgbClr val="33C5C9"/>
                </a:solidFill>
                <a:latin typeface="Calibri" pitchFamily="34" charset="0"/>
                <a:ea typeface="Calibri" pitchFamily="34" charset="-122"/>
                <a:cs typeface="Calibri" pitchFamily="34" charset="-120"/>
              </a:rPr>
              <a:t>The face you look at</a:t>
            </a:r>
            <a:endParaRPr lang="en-US" sz="1450" dirty="0"/>
          </a:p>
        </p:txBody>
      </p:sp>
      <p:sp>
        <p:nvSpPr>
          <p:cNvPr id="15" name="Text 13"/>
          <p:cNvSpPr/>
          <p:nvPr/>
        </p:nvSpPr>
        <p:spPr>
          <a:xfrm>
            <a:off x="7818120" y="2724912"/>
            <a:ext cx="3611880" cy="731520"/>
          </a:xfrm>
          <a:prstGeom prst="rect">
            <a:avLst/>
          </a:prstGeom>
          <a:noFill/>
          <a:ln/>
        </p:spPr>
        <p:txBody>
          <a:bodyPr wrap="square" lIns="0" tIns="0" rIns="0" bIns="0" rtlCol="0" anchor="ctr"/>
          <a:lstStyle/>
          <a:p>
            <a:pPr indent="0" marL="0">
              <a:buNone/>
            </a:pPr>
            <a:r>
              <a:rPr lang="en-US" sz="1350" dirty="0">
                <a:solidFill>
                  <a:srgbClr val="9BA1AE"/>
                </a:solidFill>
                <a:latin typeface="Calibri" pitchFamily="34" charset="0"/>
                <a:ea typeface="Calibri" pitchFamily="34" charset="-122"/>
                <a:cs typeface="Calibri" pitchFamily="34" charset="-120"/>
              </a:rPr>
              <a:t>Dashboards &amp; alerts over all signals.</a:t>
            </a:r>
            <a:endParaRPr lang="en-US" sz="1350" dirty="0"/>
          </a:p>
        </p:txBody>
      </p:sp>
      <p:sp>
        <p:nvSpPr>
          <p:cNvPr id="16" name="Shape 14"/>
          <p:cNvSpPr/>
          <p:nvPr/>
        </p:nvSpPr>
        <p:spPr>
          <a:xfrm>
            <a:off x="640080" y="3794760"/>
            <a:ext cx="5394960" cy="205740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17" name="Shape 15"/>
          <p:cNvSpPr/>
          <p:nvPr/>
        </p:nvSpPr>
        <p:spPr>
          <a:xfrm>
            <a:off x="640080" y="3794760"/>
            <a:ext cx="1371600" cy="2057400"/>
          </a:xfrm>
          <a:prstGeom prst="rect">
            <a:avLst/>
          </a:prstGeom>
          <a:solidFill>
            <a:srgbClr val="232838"/>
          </a:solidFill>
          <a:ln/>
        </p:spPr>
      </p:sp>
      <p:sp>
        <p:nvSpPr>
          <p:cNvPr id="18" name="Text 16"/>
          <p:cNvSpPr/>
          <p:nvPr/>
        </p:nvSpPr>
        <p:spPr>
          <a:xfrm>
            <a:off x="640080" y="4297680"/>
            <a:ext cx="1371600" cy="1005840"/>
          </a:xfrm>
          <a:prstGeom prst="rect">
            <a:avLst/>
          </a:prstGeom>
          <a:noFill/>
          <a:ln/>
        </p:spPr>
        <p:txBody>
          <a:bodyPr wrap="square" lIns="0" tIns="0" rIns="0" bIns="0" rtlCol="0" anchor="ctr"/>
          <a:lstStyle/>
          <a:p>
            <a:pPr algn="ctr" indent="0" marL="0">
              <a:buNone/>
            </a:pPr>
            <a:r>
              <a:rPr lang="en-US" sz="6000" b="1" dirty="0">
                <a:solidFill>
                  <a:srgbClr val="5BA4F4"/>
                </a:solidFill>
                <a:latin typeface="Trebuchet MS" pitchFamily="34" charset="0"/>
                <a:ea typeface="Trebuchet MS" pitchFamily="34" charset="-122"/>
                <a:cs typeface="Trebuchet MS" pitchFamily="34" charset="-120"/>
              </a:rPr>
              <a:t>T</a:t>
            </a:r>
            <a:endParaRPr lang="en-US" sz="6000" dirty="0"/>
          </a:p>
        </p:txBody>
      </p:sp>
      <p:sp>
        <p:nvSpPr>
          <p:cNvPr id="19" name="Text 17"/>
          <p:cNvSpPr/>
          <p:nvPr/>
        </p:nvSpPr>
        <p:spPr>
          <a:xfrm>
            <a:off x="2240280" y="4069080"/>
            <a:ext cx="3566160" cy="457200"/>
          </a:xfrm>
          <a:prstGeom prst="rect">
            <a:avLst/>
          </a:prstGeom>
          <a:noFill/>
          <a:ln/>
        </p:spPr>
        <p:txBody>
          <a:bodyPr wrap="square" lIns="0" tIns="0" rIns="0" bIns="0" rtlCol="0" anchor="ctr"/>
          <a:lstStyle/>
          <a:p>
            <a:pPr indent="0" marL="0">
              <a:buNone/>
            </a:pPr>
            <a:r>
              <a:rPr lang="en-US" sz="2400" b="1" dirty="0">
                <a:solidFill>
                  <a:srgbClr val="F4F5F7"/>
                </a:solidFill>
                <a:latin typeface="Trebuchet MS" pitchFamily="34" charset="0"/>
                <a:ea typeface="Trebuchet MS" pitchFamily="34" charset="-122"/>
                <a:cs typeface="Trebuchet MS" pitchFamily="34" charset="-120"/>
              </a:rPr>
              <a:t>Tempo</a:t>
            </a:r>
            <a:endParaRPr lang="en-US" sz="2400" dirty="0"/>
          </a:p>
        </p:txBody>
      </p:sp>
      <p:sp>
        <p:nvSpPr>
          <p:cNvPr id="20" name="Text 18"/>
          <p:cNvSpPr/>
          <p:nvPr/>
        </p:nvSpPr>
        <p:spPr>
          <a:xfrm>
            <a:off x="2240280" y="4572000"/>
            <a:ext cx="3566160" cy="365760"/>
          </a:xfrm>
          <a:prstGeom prst="rect">
            <a:avLst/>
          </a:prstGeom>
          <a:noFill/>
          <a:ln/>
        </p:spPr>
        <p:txBody>
          <a:bodyPr wrap="square" lIns="0" tIns="0" rIns="0" bIns="0" rtlCol="0" anchor="ctr"/>
          <a:lstStyle/>
          <a:p>
            <a:pPr indent="0" marL="0">
              <a:buNone/>
            </a:pPr>
            <a:r>
              <a:rPr lang="en-US" sz="1450" b="1" dirty="0">
                <a:solidFill>
                  <a:srgbClr val="5BA4F4"/>
                </a:solidFill>
                <a:latin typeface="Calibri" pitchFamily="34" charset="0"/>
                <a:ea typeface="Calibri" pitchFamily="34" charset="-122"/>
                <a:cs typeface="Calibri" pitchFamily="34" charset="-120"/>
              </a:rPr>
              <a:t>Stores TRACES</a:t>
            </a:r>
            <a:endParaRPr lang="en-US" sz="1450" dirty="0"/>
          </a:p>
        </p:txBody>
      </p:sp>
      <p:sp>
        <p:nvSpPr>
          <p:cNvPr id="21" name="Text 19"/>
          <p:cNvSpPr/>
          <p:nvPr/>
        </p:nvSpPr>
        <p:spPr>
          <a:xfrm>
            <a:off x="2240280" y="4965192"/>
            <a:ext cx="3611880" cy="731520"/>
          </a:xfrm>
          <a:prstGeom prst="rect">
            <a:avLst/>
          </a:prstGeom>
          <a:noFill/>
          <a:ln/>
        </p:spPr>
        <p:txBody>
          <a:bodyPr wrap="square" lIns="0" tIns="0" rIns="0" bIns="0" rtlCol="0" anchor="ctr"/>
          <a:lstStyle/>
          <a:p>
            <a:pPr indent="0" marL="0">
              <a:buNone/>
            </a:pPr>
            <a:r>
              <a:rPr lang="en-US" sz="1350" dirty="0">
                <a:solidFill>
                  <a:srgbClr val="9BA1AE"/>
                </a:solidFill>
                <a:latin typeface="Calibri" pitchFamily="34" charset="0"/>
                <a:ea typeface="Calibri" pitchFamily="34" charset="-122"/>
                <a:cs typeface="Calibri" pitchFamily="34" charset="-120"/>
              </a:rPr>
              <a:t>Follow one request across services.</a:t>
            </a:r>
            <a:endParaRPr lang="en-US" sz="1350" dirty="0"/>
          </a:p>
        </p:txBody>
      </p:sp>
      <p:sp>
        <p:nvSpPr>
          <p:cNvPr id="22" name="Shape 20"/>
          <p:cNvSpPr/>
          <p:nvPr/>
        </p:nvSpPr>
        <p:spPr>
          <a:xfrm>
            <a:off x="6217920" y="3794760"/>
            <a:ext cx="5394960" cy="205740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23" name="Shape 21"/>
          <p:cNvSpPr/>
          <p:nvPr/>
        </p:nvSpPr>
        <p:spPr>
          <a:xfrm>
            <a:off x="6217920" y="3794760"/>
            <a:ext cx="1371600" cy="2057400"/>
          </a:xfrm>
          <a:prstGeom prst="rect">
            <a:avLst/>
          </a:prstGeom>
          <a:solidFill>
            <a:srgbClr val="232838"/>
          </a:solidFill>
          <a:ln/>
        </p:spPr>
      </p:sp>
      <p:sp>
        <p:nvSpPr>
          <p:cNvPr id="24" name="Text 22"/>
          <p:cNvSpPr/>
          <p:nvPr/>
        </p:nvSpPr>
        <p:spPr>
          <a:xfrm>
            <a:off x="6217920" y="4297680"/>
            <a:ext cx="1371600" cy="1005840"/>
          </a:xfrm>
          <a:prstGeom prst="rect">
            <a:avLst/>
          </a:prstGeom>
          <a:noFill/>
          <a:ln/>
        </p:spPr>
        <p:txBody>
          <a:bodyPr wrap="square" lIns="0" tIns="0" rIns="0" bIns="0" rtlCol="0" anchor="ctr"/>
          <a:lstStyle/>
          <a:p>
            <a:pPr algn="ctr" indent="0" marL="0">
              <a:buNone/>
            </a:pPr>
            <a:r>
              <a:rPr lang="en-US" sz="6000" b="1" dirty="0">
                <a:solidFill>
                  <a:srgbClr val="73BF69"/>
                </a:solidFill>
                <a:latin typeface="Trebuchet MS" pitchFamily="34" charset="0"/>
                <a:ea typeface="Trebuchet MS" pitchFamily="34" charset="-122"/>
                <a:cs typeface="Trebuchet MS" pitchFamily="34" charset="-120"/>
              </a:rPr>
              <a:t>M</a:t>
            </a:r>
            <a:endParaRPr lang="en-US" sz="6000" dirty="0"/>
          </a:p>
        </p:txBody>
      </p:sp>
      <p:sp>
        <p:nvSpPr>
          <p:cNvPr id="25" name="Text 23"/>
          <p:cNvSpPr/>
          <p:nvPr/>
        </p:nvSpPr>
        <p:spPr>
          <a:xfrm>
            <a:off x="7818120" y="4069080"/>
            <a:ext cx="3566160" cy="457200"/>
          </a:xfrm>
          <a:prstGeom prst="rect">
            <a:avLst/>
          </a:prstGeom>
          <a:noFill/>
          <a:ln/>
        </p:spPr>
        <p:txBody>
          <a:bodyPr wrap="square" lIns="0" tIns="0" rIns="0" bIns="0" rtlCol="0" anchor="ctr"/>
          <a:lstStyle/>
          <a:p>
            <a:pPr indent="0" marL="0">
              <a:buNone/>
            </a:pPr>
            <a:r>
              <a:rPr lang="en-US" sz="2400" b="1" dirty="0">
                <a:solidFill>
                  <a:srgbClr val="F4F5F7"/>
                </a:solidFill>
                <a:latin typeface="Trebuchet MS" pitchFamily="34" charset="0"/>
                <a:ea typeface="Trebuchet MS" pitchFamily="34" charset="-122"/>
                <a:cs typeface="Trebuchet MS" pitchFamily="34" charset="-120"/>
              </a:rPr>
              <a:t>Mimir</a:t>
            </a:r>
            <a:endParaRPr lang="en-US" sz="2400" dirty="0"/>
          </a:p>
        </p:txBody>
      </p:sp>
      <p:sp>
        <p:nvSpPr>
          <p:cNvPr id="26" name="Text 24"/>
          <p:cNvSpPr/>
          <p:nvPr/>
        </p:nvSpPr>
        <p:spPr>
          <a:xfrm>
            <a:off x="7818120" y="4572000"/>
            <a:ext cx="3566160" cy="365760"/>
          </a:xfrm>
          <a:prstGeom prst="rect">
            <a:avLst/>
          </a:prstGeom>
          <a:noFill/>
          <a:ln/>
        </p:spPr>
        <p:txBody>
          <a:bodyPr wrap="square" lIns="0" tIns="0" rIns="0" bIns="0" rtlCol="0" anchor="ctr"/>
          <a:lstStyle/>
          <a:p>
            <a:pPr indent="0" marL="0">
              <a:buNone/>
            </a:pPr>
            <a:r>
              <a:rPr lang="en-US" sz="1450" b="1" dirty="0">
                <a:solidFill>
                  <a:srgbClr val="73BF69"/>
                </a:solidFill>
                <a:latin typeface="Calibri" pitchFamily="34" charset="0"/>
                <a:ea typeface="Calibri" pitchFamily="34" charset="-122"/>
                <a:cs typeface="Calibri" pitchFamily="34" charset="-120"/>
              </a:rPr>
              <a:t>Stores METRICS</a:t>
            </a:r>
            <a:endParaRPr lang="en-US" sz="1450" dirty="0"/>
          </a:p>
        </p:txBody>
      </p:sp>
      <p:sp>
        <p:nvSpPr>
          <p:cNvPr id="27" name="Text 25"/>
          <p:cNvSpPr/>
          <p:nvPr/>
        </p:nvSpPr>
        <p:spPr>
          <a:xfrm>
            <a:off x="7818120" y="4965192"/>
            <a:ext cx="3611880" cy="731520"/>
          </a:xfrm>
          <a:prstGeom prst="rect">
            <a:avLst/>
          </a:prstGeom>
          <a:noFill/>
          <a:ln/>
        </p:spPr>
        <p:txBody>
          <a:bodyPr wrap="square" lIns="0" tIns="0" rIns="0" bIns="0" rtlCol="0" anchor="ctr"/>
          <a:lstStyle/>
          <a:p>
            <a:pPr indent="0" marL="0">
              <a:buNone/>
            </a:pPr>
            <a:r>
              <a:rPr lang="en-US" sz="1350" dirty="0">
                <a:solidFill>
                  <a:srgbClr val="9BA1AE"/>
                </a:solidFill>
                <a:latin typeface="Calibri" pitchFamily="34" charset="0"/>
                <a:ea typeface="Calibri" pitchFamily="34" charset="-122"/>
                <a:cs typeface="Calibri" pitchFamily="34" charset="-120"/>
              </a:rPr>
              <a:t>Long-term metrics. Query with PromQL.</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How your data reaches a dashboard</a:t>
            </a:r>
            <a:endParaRPr lang="en-US" sz="3000" dirty="0"/>
          </a:p>
        </p:txBody>
      </p:sp>
      <p:sp>
        <p:nvSpPr>
          <p:cNvPr id="4" name="Shape 2"/>
          <p:cNvSpPr/>
          <p:nvPr/>
        </p:nvSpPr>
        <p:spPr>
          <a:xfrm>
            <a:off x="640080" y="2286000"/>
            <a:ext cx="2286000" cy="1188720"/>
          </a:xfrm>
          <a:prstGeom prst="rect">
            <a:avLst/>
          </a:prstGeom>
          <a:solidFill>
            <a:srgbClr val="1B1F2B"/>
          </a:solidFill>
          <a:ln w="15875">
            <a:solidFill>
              <a:srgbClr val="F46800"/>
            </a:solidFill>
            <a:prstDash val="solid"/>
          </a:ln>
          <a:effectLst>
            <a:outerShdw sx="100000" sy="100000" kx="0" ky="0" algn="bl" rotWithShape="0" blurRad="114300" dist="38100" dir="8100000">
              <a:srgbClr val="000000">
                <a:alpha val="35000"/>
              </a:srgbClr>
            </a:outerShdw>
          </a:effectLst>
        </p:spPr>
      </p:sp>
      <p:sp>
        <p:nvSpPr>
          <p:cNvPr id="5" name="Text 3"/>
          <p:cNvSpPr/>
          <p:nvPr/>
        </p:nvSpPr>
        <p:spPr>
          <a:xfrm>
            <a:off x="749808" y="2432304"/>
            <a:ext cx="2066544" cy="365760"/>
          </a:xfrm>
          <a:prstGeom prst="rect">
            <a:avLst/>
          </a:prstGeom>
          <a:noFill/>
          <a:ln/>
        </p:spPr>
        <p:txBody>
          <a:bodyPr wrap="square" lIns="0" tIns="0" rIns="0" bIns="0" rtlCol="0" anchor="ctr"/>
          <a:lstStyle/>
          <a:p>
            <a:pPr algn="ctr" indent="0" marL="0">
              <a:buNone/>
            </a:pPr>
            <a:r>
              <a:rPr lang="en-US" sz="1450" b="1" dirty="0">
                <a:solidFill>
                  <a:srgbClr val="FF8A3D"/>
                </a:solidFill>
                <a:latin typeface="Trebuchet MS" pitchFamily="34" charset="0"/>
                <a:ea typeface="Trebuchet MS" pitchFamily="34" charset="-122"/>
                <a:cs typeface="Trebuchet MS" pitchFamily="34" charset="-120"/>
              </a:rPr>
              <a:t>Java app</a:t>
            </a:r>
            <a:endParaRPr lang="en-US" sz="1450" dirty="0"/>
          </a:p>
        </p:txBody>
      </p:sp>
      <p:sp>
        <p:nvSpPr>
          <p:cNvPr id="6" name="Text 4"/>
          <p:cNvSpPr/>
          <p:nvPr/>
        </p:nvSpPr>
        <p:spPr>
          <a:xfrm>
            <a:off x="749808" y="2798064"/>
            <a:ext cx="2066544" cy="548640"/>
          </a:xfrm>
          <a:prstGeom prst="rect">
            <a:avLst/>
          </a:prstGeom>
          <a:noFill/>
          <a:ln/>
        </p:spPr>
        <p:txBody>
          <a:bodyPr wrap="square" lIns="0" tIns="0" rIns="0" bIns="0" rtlCol="0" anchor="ctr"/>
          <a:lstStyle/>
          <a:p>
            <a:pPr algn="ctr" indent="0" marL="0">
              <a:buNone/>
            </a:pPr>
            <a:r>
              <a:rPr lang="en-US" sz="1100" dirty="0">
                <a:solidFill>
                  <a:srgbClr val="9BA1AE"/>
                </a:solidFill>
                <a:latin typeface="Calibri" pitchFamily="34" charset="0"/>
                <a:ea typeface="Calibri" pitchFamily="34" charset="-122"/>
                <a:cs typeface="Calibri" pitchFamily="34" charset="-120"/>
              </a:rPr>
              <a:t>OTel agent (jar)</a:t>
            </a:r>
            <a:endParaRPr lang="en-US" sz="1100" dirty="0"/>
          </a:p>
        </p:txBody>
      </p:sp>
      <p:sp>
        <p:nvSpPr>
          <p:cNvPr id="7" name="Shape 5"/>
          <p:cNvSpPr/>
          <p:nvPr/>
        </p:nvSpPr>
        <p:spPr>
          <a:xfrm>
            <a:off x="640080" y="3840480"/>
            <a:ext cx="2286000" cy="1188720"/>
          </a:xfrm>
          <a:prstGeom prst="rect">
            <a:avLst/>
          </a:prstGeom>
          <a:solidFill>
            <a:srgbClr val="1B1F2B"/>
          </a:solidFill>
          <a:ln w="15875">
            <a:solidFill>
              <a:srgbClr val="33C5C9"/>
            </a:solidFill>
            <a:prstDash val="solid"/>
          </a:ln>
          <a:effectLst>
            <a:outerShdw sx="100000" sy="100000" kx="0" ky="0" algn="bl" rotWithShape="0" blurRad="114300" dist="38100" dir="8100000">
              <a:srgbClr val="000000">
                <a:alpha val="35000"/>
              </a:srgbClr>
            </a:outerShdw>
          </a:effectLst>
        </p:spPr>
      </p:sp>
      <p:sp>
        <p:nvSpPr>
          <p:cNvPr id="8" name="Text 6"/>
          <p:cNvSpPr/>
          <p:nvPr/>
        </p:nvSpPr>
        <p:spPr>
          <a:xfrm>
            <a:off x="749808" y="3986784"/>
            <a:ext cx="2066544" cy="365760"/>
          </a:xfrm>
          <a:prstGeom prst="rect">
            <a:avLst/>
          </a:prstGeom>
          <a:noFill/>
          <a:ln/>
        </p:spPr>
        <p:txBody>
          <a:bodyPr wrap="square" lIns="0" tIns="0" rIns="0" bIns="0" rtlCol="0" anchor="ctr"/>
          <a:lstStyle/>
          <a:p>
            <a:pPr algn="ctr" indent="0" marL="0">
              <a:buNone/>
            </a:pPr>
            <a:r>
              <a:rPr lang="en-US" sz="1450" b="1" dirty="0">
                <a:solidFill>
                  <a:srgbClr val="33C5C9"/>
                </a:solidFill>
                <a:latin typeface="Trebuchet MS" pitchFamily="34" charset="0"/>
                <a:ea typeface="Trebuchet MS" pitchFamily="34" charset="-122"/>
                <a:cs typeface="Trebuchet MS" pitchFamily="34" charset="-120"/>
              </a:rPr>
              <a:t>React SPA</a:t>
            </a:r>
            <a:endParaRPr lang="en-US" sz="1450" dirty="0"/>
          </a:p>
        </p:txBody>
      </p:sp>
      <p:sp>
        <p:nvSpPr>
          <p:cNvPr id="9" name="Text 7"/>
          <p:cNvSpPr/>
          <p:nvPr/>
        </p:nvSpPr>
        <p:spPr>
          <a:xfrm>
            <a:off x="749808" y="4352544"/>
            <a:ext cx="2066544" cy="548640"/>
          </a:xfrm>
          <a:prstGeom prst="rect">
            <a:avLst/>
          </a:prstGeom>
          <a:noFill/>
          <a:ln/>
        </p:spPr>
        <p:txBody>
          <a:bodyPr wrap="square" lIns="0" tIns="0" rIns="0" bIns="0" rtlCol="0" anchor="ctr"/>
          <a:lstStyle/>
          <a:p>
            <a:pPr algn="ctr" indent="0" marL="0">
              <a:buNone/>
            </a:pPr>
            <a:r>
              <a:rPr lang="en-US" sz="1100" dirty="0">
                <a:solidFill>
                  <a:srgbClr val="9BA1AE"/>
                </a:solidFill>
                <a:latin typeface="Calibri" pitchFamily="34" charset="0"/>
                <a:ea typeface="Calibri" pitchFamily="34" charset="-122"/>
                <a:cs typeface="Calibri" pitchFamily="34" charset="-120"/>
              </a:rPr>
              <a:t>Faro SDK</a:t>
            </a:r>
            <a:endParaRPr lang="en-US" sz="1100" dirty="0"/>
          </a:p>
        </p:txBody>
      </p:sp>
      <p:sp>
        <p:nvSpPr>
          <p:cNvPr id="10" name="Shape 8"/>
          <p:cNvSpPr/>
          <p:nvPr/>
        </p:nvSpPr>
        <p:spPr>
          <a:xfrm>
            <a:off x="3566160" y="3063240"/>
            <a:ext cx="2194560" cy="1188720"/>
          </a:xfrm>
          <a:prstGeom prst="rect">
            <a:avLst/>
          </a:prstGeom>
          <a:solidFill>
            <a:srgbClr val="232838"/>
          </a:solidFill>
          <a:ln w="15875">
            <a:solidFill>
              <a:srgbClr val="F46800"/>
            </a:solidFill>
            <a:prstDash val="solid"/>
          </a:ln>
          <a:effectLst>
            <a:outerShdw sx="100000" sy="100000" kx="0" ky="0" algn="bl" rotWithShape="0" blurRad="114300" dist="38100" dir="8100000">
              <a:srgbClr val="000000">
                <a:alpha val="35000"/>
              </a:srgbClr>
            </a:outerShdw>
          </a:effectLst>
        </p:spPr>
      </p:sp>
      <p:sp>
        <p:nvSpPr>
          <p:cNvPr id="11" name="Text 9"/>
          <p:cNvSpPr/>
          <p:nvPr/>
        </p:nvSpPr>
        <p:spPr>
          <a:xfrm>
            <a:off x="3675888" y="3209544"/>
            <a:ext cx="1975104" cy="365760"/>
          </a:xfrm>
          <a:prstGeom prst="rect">
            <a:avLst/>
          </a:prstGeom>
          <a:noFill/>
          <a:ln/>
        </p:spPr>
        <p:txBody>
          <a:bodyPr wrap="square" lIns="0" tIns="0" rIns="0" bIns="0" rtlCol="0" anchor="ctr"/>
          <a:lstStyle/>
          <a:p>
            <a:pPr algn="ctr" indent="0" marL="0">
              <a:buNone/>
            </a:pPr>
            <a:r>
              <a:rPr lang="en-US" sz="1450" b="1" dirty="0">
                <a:solidFill>
                  <a:srgbClr val="F4F5F7"/>
                </a:solidFill>
                <a:latin typeface="Trebuchet MS" pitchFamily="34" charset="0"/>
                <a:ea typeface="Trebuchet MS" pitchFamily="34" charset="-122"/>
                <a:cs typeface="Trebuchet MS" pitchFamily="34" charset="-120"/>
              </a:rPr>
              <a:t>OTel Collector</a:t>
            </a:r>
            <a:endParaRPr lang="en-US" sz="1450" dirty="0"/>
          </a:p>
        </p:txBody>
      </p:sp>
      <p:sp>
        <p:nvSpPr>
          <p:cNvPr id="12" name="Text 10"/>
          <p:cNvSpPr/>
          <p:nvPr/>
        </p:nvSpPr>
        <p:spPr>
          <a:xfrm>
            <a:off x="3675888" y="3575304"/>
            <a:ext cx="1975104" cy="548640"/>
          </a:xfrm>
          <a:prstGeom prst="rect">
            <a:avLst/>
          </a:prstGeom>
          <a:noFill/>
          <a:ln/>
        </p:spPr>
        <p:txBody>
          <a:bodyPr wrap="square" lIns="0" tIns="0" rIns="0" bIns="0" rtlCol="0" anchor="ctr"/>
          <a:lstStyle/>
          <a:p>
            <a:pPr algn="ctr" indent="0" marL="0">
              <a:buNone/>
            </a:pPr>
            <a:r>
              <a:rPr lang="en-US" sz="1100" dirty="0">
                <a:solidFill>
                  <a:srgbClr val="9BA1AE"/>
                </a:solidFill>
                <a:latin typeface="Calibri" pitchFamily="34" charset="0"/>
                <a:ea typeface="Calibri" pitchFamily="34" charset="-122"/>
                <a:cs typeface="Calibri" pitchFamily="34" charset="-120"/>
              </a:rPr>
              <a:t>receive · batch · route</a:t>
            </a:r>
            <a:endParaRPr lang="en-US" sz="1100" dirty="0"/>
          </a:p>
        </p:txBody>
      </p:sp>
      <p:sp>
        <p:nvSpPr>
          <p:cNvPr id="13" name="Shape 11"/>
          <p:cNvSpPr/>
          <p:nvPr/>
        </p:nvSpPr>
        <p:spPr>
          <a:xfrm>
            <a:off x="6400800" y="1783080"/>
            <a:ext cx="2103120" cy="914400"/>
          </a:xfrm>
          <a:prstGeom prst="rect">
            <a:avLst/>
          </a:prstGeom>
          <a:solidFill>
            <a:srgbClr val="1B1F2B"/>
          </a:solidFill>
          <a:ln w="15875">
            <a:solidFill>
              <a:srgbClr val="F46800"/>
            </a:solidFill>
            <a:prstDash val="solid"/>
          </a:ln>
          <a:effectLst>
            <a:outerShdw sx="100000" sy="100000" kx="0" ky="0" algn="bl" rotWithShape="0" blurRad="114300" dist="38100" dir="8100000">
              <a:srgbClr val="000000">
                <a:alpha val="35000"/>
              </a:srgbClr>
            </a:outerShdw>
          </a:effectLst>
        </p:spPr>
      </p:sp>
      <p:sp>
        <p:nvSpPr>
          <p:cNvPr id="14" name="Text 12"/>
          <p:cNvSpPr/>
          <p:nvPr/>
        </p:nvSpPr>
        <p:spPr>
          <a:xfrm>
            <a:off x="6510528" y="1929384"/>
            <a:ext cx="1883664" cy="365760"/>
          </a:xfrm>
          <a:prstGeom prst="rect">
            <a:avLst/>
          </a:prstGeom>
          <a:noFill/>
          <a:ln/>
        </p:spPr>
        <p:txBody>
          <a:bodyPr wrap="square" lIns="0" tIns="0" rIns="0" bIns="0" rtlCol="0" anchor="ctr"/>
          <a:lstStyle/>
          <a:p>
            <a:pPr algn="ctr" indent="0" marL="0">
              <a:buNone/>
            </a:pPr>
            <a:r>
              <a:rPr lang="en-US" sz="1450" b="1" dirty="0">
                <a:solidFill>
                  <a:srgbClr val="F46800"/>
                </a:solidFill>
                <a:latin typeface="Trebuchet MS" pitchFamily="34" charset="0"/>
                <a:ea typeface="Trebuchet MS" pitchFamily="34" charset="-122"/>
                <a:cs typeface="Trebuchet MS" pitchFamily="34" charset="-120"/>
              </a:rPr>
              <a:t>Loki</a:t>
            </a:r>
            <a:endParaRPr lang="en-US" sz="1450" dirty="0"/>
          </a:p>
        </p:txBody>
      </p:sp>
      <p:sp>
        <p:nvSpPr>
          <p:cNvPr id="15" name="Text 13"/>
          <p:cNvSpPr/>
          <p:nvPr/>
        </p:nvSpPr>
        <p:spPr>
          <a:xfrm>
            <a:off x="6510528" y="2295144"/>
            <a:ext cx="1883664" cy="548640"/>
          </a:xfrm>
          <a:prstGeom prst="rect">
            <a:avLst/>
          </a:prstGeom>
          <a:noFill/>
          <a:ln/>
        </p:spPr>
        <p:txBody>
          <a:bodyPr wrap="square" lIns="0" tIns="0" rIns="0" bIns="0" rtlCol="0" anchor="ctr"/>
          <a:lstStyle/>
          <a:p>
            <a:pPr algn="ctr" indent="0" marL="0">
              <a:buNone/>
            </a:pPr>
            <a:r>
              <a:rPr lang="en-US" sz="1100" dirty="0">
                <a:solidFill>
                  <a:srgbClr val="9BA1AE"/>
                </a:solidFill>
                <a:latin typeface="Calibri" pitchFamily="34" charset="0"/>
                <a:ea typeface="Calibri" pitchFamily="34" charset="-122"/>
                <a:cs typeface="Calibri" pitchFamily="34" charset="-120"/>
              </a:rPr>
              <a:t>logs</a:t>
            </a:r>
            <a:endParaRPr lang="en-US" sz="1100" dirty="0"/>
          </a:p>
        </p:txBody>
      </p:sp>
      <p:sp>
        <p:nvSpPr>
          <p:cNvPr id="16" name="Shape 14"/>
          <p:cNvSpPr/>
          <p:nvPr/>
        </p:nvSpPr>
        <p:spPr>
          <a:xfrm>
            <a:off x="6400800" y="2834640"/>
            <a:ext cx="2103120" cy="914400"/>
          </a:xfrm>
          <a:prstGeom prst="rect">
            <a:avLst/>
          </a:prstGeom>
          <a:solidFill>
            <a:srgbClr val="1B1F2B"/>
          </a:solidFill>
          <a:ln w="15875">
            <a:solidFill>
              <a:srgbClr val="5BA4F4"/>
            </a:solidFill>
            <a:prstDash val="solid"/>
          </a:ln>
          <a:effectLst>
            <a:outerShdw sx="100000" sy="100000" kx="0" ky="0" algn="bl" rotWithShape="0" blurRad="114300" dist="38100" dir="8100000">
              <a:srgbClr val="000000">
                <a:alpha val="35000"/>
              </a:srgbClr>
            </a:outerShdw>
          </a:effectLst>
        </p:spPr>
      </p:sp>
      <p:sp>
        <p:nvSpPr>
          <p:cNvPr id="17" name="Text 15"/>
          <p:cNvSpPr/>
          <p:nvPr/>
        </p:nvSpPr>
        <p:spPr>
          <a:xfrm>
            <a:off x="6510528" y="2980944"/>
            <a:ext cx="1883664" cy="365760"/>
          </a:xfrm>
          <a:prstGeom prst="rect">
            <a:avLst/>
          </a:prstGeom>
          <a:noFill/>
          <a:ln/>
        </p:spPr>
        <p:txBody>
          <a:bodyPr wrap="square" lIns="0" tIns="0" rIns="0" bIns="0" rtlCol="0" anchor="ctr"/>
          <a:lstStyle/>
          <a:p>
            <a:pPr algn="ctr" indent="0" marL="0">
              <a:buNone/>
            </a:pPr>
            <a:r>
              <a:rPr lang="en-US" sz="1450" b="1" dirty="0">
                <a:solidFill>
                  <a:srgbClr val="5BA4F4"/>
                </a:solidFill>
                <a:latin typeface="Trebuchet MS" pitchFamily="34" charset="0"/>
                <a:ea typeface="Trebuchet MS" pitchFamily="34" charset="-122"/>
                <a:cs typeface="Trebuchet MS" pitchFamily="34" charset="-120"/>
              </a:rPr>
              <a:t>Tempo</a:t>
            </a:r>
            <a:endParaRPr lang="en-US" sz="1450" dirty="0"/>
          </a:p>
        </p:txBody>
      </p:sp>
      <p:sp>
        <p:nvSpPr>
          <p:cNvPr id="18" name="Text 16"/>
          <p:cNvSpPr/>
          <p:nvPr/>
        </p:nvSpPr>
        <p:spPr>
          <a:xfrm>
            <a:off x="6510528" y="3346704"/>
            <a:ext cx="1883664" cy="548640"/>
          </a:xfrm>
          <a:prstGeom prst="rect">
            <a:avLst/>
          </a:prstGeom>
          <a:noFill/>
          <a:ln/>
        </p:spPr>
        <p:txBody>
          <a:bodyPr wrap="square" lIns="0" tIns="0" rIns="0" bIns="0" rtlCol="0" anchor="ctr"/>
          <a:lstStyle/>
          <a:p>
            <a:pPr algn="ctr" indent="0" marL="0">
              <a:buNone/>
            </a:pPr>
            <a:r>
              <a:rPr lang="en-US" sz="1100" dirty="0">
                <a:solidFill>
                  <a:srgbClr val="9BA1AE"/>
                </a:solidFill>
                <a:latin typeface="Calibri" pitchFamily="34" charset="0"/>
                <a:ea typeface="Calibri" pitchFamily="34" charset="-122"/>
                <a:cs typeface="Calibri" pitchFamily="34" charset="-120"/>
              </a:rPr>
              <a:t>traces</a:t>
            </a:r>
            <a:endParaRPr lang="en-US" sz="1100" dirty="0"/>
          </a:p>
        </p:txBody>
      </p:sp>
      <p:sp>
        <p:nvSpPr>
          <p:cNvPr id="19" name="Shape 17"/>
          <p:cNvSpPr/>
          <p:nvPr/>
        </p:nvSpPr>
        <p:spPr>
          <a:xfrm>
            <a:off x="6400800" y="3886200"/>
            <a:ext cx="2103120" cy="914400"/>
          </a:xfrm>
          <a:prstGeom prst="rect">
            <a:avLst/>
          </a:prstGeom>
          <a:solidFill>
            <a:srgbClr val="1B1F2B"/>
          </a:solidFill>
          <a:ln w="15875">
            <a:solidFill>
              <a:srgbClr val="73BF69"/>
            </a:solidFill>
            <a:prstDash val="solid"/>
          </a:ln>
          <a:effectLst>
            <a:outerShdw sx="100000" sy="100000" kx="0" ky="0" algn="bl" rotWithShape="0" blurRad="114300" dist="38100" dir="8100000">
              <a:srgbClr val="000000">
                <a:alpha val="35000"/>
              </a:srgbClr>
            </a:outerShdw>
          </a:effectLst>
        </p:spPr>
      </p:sp>
      <p:sp>
        <p:nvSpPr>
          <p:cNvPr id="20" name="Text 18"/>
          <p:cNvSpPr/>
          <p:nvPr/>
        </p:nvSpPr>
        <p:spPr>
          <a:xfrm>
            <a:off x="6510528" y="4032504"/>
            <a:ext cx="1883664" cy="365760"/>
          </a:xfrm>
          <a:prstGeom prst="rect">
            <a:avLst/>
          </a:prstGeom>
          <a:noFill/>
          <a:ln/>
        </p:spPr>
        <p:txBody>
          <a:bodyPr wrap="square" lIns="0" tIns="0" rIns="0" bIns="0" rtlCol="0" anchor="ctr"/>
          <a:lstStyle/>
          <a:p>
            <a:pPr algn="ctr" indent="0" marL="0">
              <a:buNone/>
            </a:pPr>
            <a:r>
              <a:rPr lang="en-US" sz="1450" b="1" dirty="0">
                <a:solidFill>
                  <a:srgbClr val="73BF69"/>
                </a:solidFill>
                <a:latin typeface="Trebuchet MS" pitchFamily="34" charset="0"/>
                <a:ea typeface="Trebuchet MS" pitchFamily="34" charset="-122"/>
                <a:cs typeface="Trebuchet MS" pitchFamily="34" charset="-120"/>
              </a:rPr>
              <a:t>Mimir</a:t>
            </a:r>
            <a:endParaRPr lang="en-US" sz="1450" dirty="0"/>
          </a:p>
        </p:txBody>
      </p:sp>
      <p:sp>
        <p:nvSpPr>
          <p:cNvPr id="21" name="Text 19"/>
          <p:cNvSpPr/>
          <p:nvPr/>
        </p:nvSpPr>
        <p:spPr>
          <a:xfrm>
            <a:off x="6510528" y="4398264"/>
            <a:ext cx="1883664" cy="548640"/>
          </a:xfrm>
          <a:prstGeom prst="rect">
            <a:avLst/>
          </a:prstGeom>
          <a:noFill/>
          <a:ln/>
        </p:spPr>
        <p:txBody>
          <a:bodyPr wrap="square" lIns="0" tIns="0" rIns="0" bIns="0" rtlCol="0" anchor="ctr"/>
          <a:lstStyle/>
          <a:p>
            <a:pPr algn="ctr" indent="0" marL="0">
              <a:buNone/>
            </a:pPr>
            <a:r>
              <a:rPr lang="en-US" sz="1100" dirty="0">
                <a:solidFill>
                  <a:srgbClr val="9BA1AE"/>
                </a:solidFill>
                <a:latin typeface="Calibri" pitchFamily="34" charset="0"/>
                <a:ea typeface="Calibri" pitchFamily="34" charset="-122"/>
                <a:cs typeface="Calibri" pitchFamily="34" charset="-120"/>
              </a:rPr>
              <a:t>metrics</a:t>
            </a:r>
            <a:endParaRPr lang="en-US" sz="1100" dirty="0"/>
          </a:p>
        </p:txBody>
      </p:sp>
      <p:sp>
        <p:nvSpPr>
          <p:cNvPr id="22" name="Shape 20"/>
          <p:cNvSpPr/>
          <p:nvPr/>
        </p:nvSpPr>
        <p:spPr>
          <a:xfrm>
            <a:off x="9144000" y="2606040"/>
            <a:ext cx="2377440" cy="1828800"/>
          </a:xfrm>
          <a:prstGeom prst="rect">
            <a:avLst/>
          </a:prstGeom>
          <a:solidFill>
            <a:srgbClr val="1B1F2B"/>
          </a:solidFill>
          <a:ln w="25400">
            <a:solidFill>
              <a:srgbClr val="33C5C9"/>
            </a:solidFill>
            <a:prstDash val="solid"/>
          </a:ln>
          <a:effectLst>
            <a:outerShdw sx="100000" sy="100000" kx="0" ky="0" algn="bl" rotWithShape="0" blurRad="114300" dist="38100" dir="8100000">
              <a:srgbClr val="000000">
                <a:alpha val="35000"/>
              </a:srgbClr>
            </a:outerShdw>
          </a:effectLst>
        </p:spPr>
      </p:sp>
      <p:pic>
        <p:nvPicPr>
          <p:cNvPr id="23" name="Image 0" descr="preencoded.png">    </p:cNvPr>
          <p:cNvPicPr>
            <a:picLocks noChangeAspect="1"/>
          </p:cNvPicPr>
          <p:nvPr/>
        </p:nvPicPr>
        <p:blipFill>
          <a:blip r:embed="rId1"/>
          <a:stretch>
            <a:fillRect/>
          </a:stretch>
        </p:blipFill>
        <p:spPr>
          <a:xfrm>
            <a:off x="10104120" y="2834640"/>
            <a:ext cx="502920" cy="502920"/>
          </a:xfrm>
          <a:prstGeom prst="rect">
            <a:avLst/>
          </a:prstGeom>
        </p:spPr>
      </p:pic>
      <p:sp>
        <p:nvSpPr>
          <p:cNvPr id="24" name="Text 21"/>
          <p:cNvSpPr/>
          <p:nvPr/>
        </p:nvSpPr>
        <p:spPr>
          <a:xfrm>
            <a:off x="9144000" y="3383280"/>
            <a:ext cx="2377440" cy="411480"/>
          </a:xfrm>
          <a:prstGeom prst="rect">
            <a:avLst/>
          </a:prstGeom>
          <a:noFill/>
          <a:ln/>
        </p:spPr>
        <p:txBody>
          <a:bodyPr wrap="square" lIns="0" tIns="0" rIns="0" bIns="0" rtlCol="0" anchor="ctr"/>
          <a:lstStyle/>
          <a:p>
            <a:pPr algn="ctr" indent="0" marL="0">
              <a:buNone/>
            </a:pPr>
            <a:r>
              <a:rPr lang="en-US" sz="2200" b="1" dirty="0">
                <a:solidFill>
                  <a:srgbClr val="F4F5F7"/>
                </a:solidFill>
                <a:latin typeface="Trebuchet MS" pitchFamily="34" charset="0"/>
                <a:ea typeface="Trebuchet MS" pitchFamily="34" charset="-122"/>
                <a:cs typeface="Trebuchet MS" pitchFamily="34" charset="-120"/>
              </a:rPr>
              <a:t>Grafana</a:t>
            </a:r>
            <a:endParaRPr lang="en-US" sz="2200" dirty="0"/>
          </a:p>
        </p:txBody>
      </p:sp>
      <p:sp>
        <p:nvSpPr>
          <p:cNvPr id="25" name="Text 22"/>
          <p:cNvSpPr/>
          <p:nvPr/>
        </p:nvSpPr>
        <p:spPr>
          <a:xfrm>
            <a:off x="9144000" y="3822192"/>
            <a:ext cx="2377440" cy="365760"/>
          </a:xfrm>
          <a:prstGeom prst="rect">
            <a:avLst/>
          </a:prstGeom>
          <a:noFill/>
          <a:ln/>
        </p:spPr>
        <p:txBody>
          <a:bodyPr wrap="square" lIns="0" tIns="0" rIns="0" bIns="0" rtlCol="0" anchor="ctr"/>
          <a:lstStyle/>
          <a:p>
            <a:pPr algn="ctr" indent="0" marL="0">
              <a:buNone/>
            </a:pPr>
            <a:r>
              <a:rPr lang="en-US" sz="1200" dirty="0">
                <a:solidFill>
                  <a:srgbClr val="9BA1AE"/>
                </a:solidFill>
                <a:latin typeface="Calibri" pitchFamily="34" charset="0"/>
                <a:ea typeface="Calibri" pitchFamily="34" charset="-122"/>
                <a:cs typeface="Calibri" pitchFamily="34" charset="-120"/>
              </a:rPr>
              <a:t>dashboards · alerts</a:t>
            </a:r>
            <a:endParaRPr lang="en-US" sz="1200" dirty="0"/>
          </a:p>
        </p:txBody>
      </p:sp>
      <p:sp>
        <p:nvSpPr>
          <p:cNvPr id="26" name="Shape 23"/>
          <p:cNvSpPr/>
          <p:nvPr/>
        </p:nvSpPr>
        <p:spPr>
          <a:xfrm>
            <a:off x="2926080" y="2880360"/>
            <a:ext cx="640080" cy="0"/>
          </a:xfrm>
          <a:prstGeom prst="line">
            <a:avLst/>
          </a:prstGeom>
          <a:noFill/>
          <a:ln w="25400">
            <a:solidFill>
              <a:srgbClr val="6E7480"/>
            </a:solidFill>
            <a:prstDash val="solid"/>
            <a:tailEnd type="triangle"/>
          </a:ln>
        </p:spPr>
      </p:sp>
      <p:sp>
        <p:nvSpPr>
          <p:cNvPr id="27" name="Shape 24"/>
          <p:cNvSpPr/>
          <p:nvPr/>
        </p:nvSpPr>
        <p:spPr>
          <a:xfrm>
            <a:off x="2926080" y="4434840"/>
            <a:ext cx="640080" cy="0"/>
          </a:xfrm>
          <a:prstGeom prst="line">
            <a:avLst/>
          </a:prstGeom>
          <a:noFill/>
          <a:ln w="25400">
            <a:solidFill>
              <a:srgbClr val="6E7480"/>
            </a:solidFill>
            <a:prstDash val="solid"/>
            <a:tailEnd type="triangle"/>
          </a:ln>
        </p:spPr>
      </p:sp>
      <p:sp>
        <p:nvSpPr>
          <p:cNvPr id="28" name="Shape 25"/>
          <p:cNvSpPr/>
          <p:nvPr/>
        </p:nvSpPr>
        <p:spPr>
          <a:xfrm>
            <a:off x="5760720" y="3657600"/>
            <a:ext cx="640080" cy="0"/>
          </a:xfrm>
          <a:prstGeom prst="line">
            <a:avLst/>
          </a:prstGeom>
          <a:noFill/>
          <a:ln w="25400">
            <a:solidFill>
              <a:srgbClr val="6E7480"/>
            </a:solidFill>
            <a:prstDash val="solid"/>
            <a:tailEnd type="triangle"/>
          </a:ln>
        </p:spPr>
      </p:sp>
      <p:sp>
        <p:nvSpPr>
          <p:cNvPr id="29" name="Text 26"/>
          <p:cNvSpPr/>
          <p:nvPr/>
        </p:nvSpPr>
        <p:spPr>
          <a:xfrm>
            <a:off x="5715000" y="3246120"/>
            <a:ext cx="777240" cy="274320"/>
          </a:xfrm>
          <a:prstGeom prst="rect">
            <a:avLst/>
          </a:prstGeom>
          <a:noFill/>
          <a:ln/>
        </p:spPr>
        <p:txBody>
          <a:bodyPr wrap="square" lIns="0" tIns="0" rIns="0" bIns="0" rtlCol="0" anchor="ctr"/>
          <a:lstStyle/>
          <a:p>
            <a:pPr algn="ctr" indent="0" marL="0">
              <a:buNone/>
            </a:pPr>
            <a:r>
              <a:rPr lang="en-US" sz="950" dirty="0">
                <a:solidFill>
                  <a:srgbClr val="6E7480"/>
                </a:solidFill>
                <a:latin typeface="Consolas" pitchFamily="34" charset="0"/>
                <a:ea typeface="Consolas" pitchFamily="34" charset="-122"/>
                <a:cs typeface="Consolas" pitchFamily="34" charset="-120"/>
              </a:rPr>
              <a:t>OTLP</a:t>
            </a:r>
            <a:endParaRPr lang="en-US" sz="950" dirty="0"/>
          </a:p>
        </p:txBody>
      </p:sp>
      <p:sp>
        <p:nvSpPr>
          <p:cNvPr id="30" name="Shape 27"/>
          <p:cNvSpPr/>
          <p:nvPr/>
        </p:nvSpPr>
        <p:spPr>
          <a:xfrm>
            <a:off x="8503920" y="3657600"/>
            <a:ext cx="640080" cy="0"/>
          </a:xfrm>
          <a:prstGeom prst="line">
            <a:avLst/>
          </a:prstGeom>
          <a:noFill/>
          <a:ln w="25400">
            <a:solidFill>
              <a:srgbClr val="6E7480"/>
            </a:solidFill>
            <a:prstDash val="solid"/>
            <a:tailEnd type="triangle"/>
          </a:ln>
        </p:spPr>
      </p:sp>
      <p:sp>
        <p:nvSpPr>
          <p:cNvPr id="31" name="Text 28"/>
          <p:cNvSpPr/>
          <p:nvPr/>
        </p:nvSpPr>
        <p:spPr>
          <a:xfrm>
            <a:off x="640080" y="5943600"/>
            <a:ext cx="10789920" cy="457200"/>
          </a:xfrm>
          <a:prstGeom prst="rect">
            <a:avLst/>
          </a:prstGeom>
          <a:noFill/>
          <a:ln/>
        </p:spPr>
        <p:txBody>
          <a:bodyPr wrap="square" lIns="0" tIns="0" rIns="0" bIns="0" rtlCol="0" anchor="ctr"/>
          <a:lstStyle/>
          <a:p>
            <a:pPr indent="0" marL="0">
              <a:buNone/>
            </a:pPr>
            <a:r>
              <a:rPr lang="en-US" sz="1400" i="1" dirty="0">
                <a:solidFill>
                  <a:srgbClr val="9BA1AE"/>
                </a:solidFill>
                <a:latin typeface="Calibri" pitchFamily="34" charset="0"/>
                <a:ea typeface="Calibri" pitchFamily="34" charset="-122"/>
                <a:cs typeface="Calibri" pitchFamily="34" charset="-120"/>
              </a:rPr>
              <a:t>Every team sends the same way. Only one property changes between services: the service name.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1005840"/>
            <a:ext cx="10058400" cy="320040"/>
          </a:xfrm>
          <a:prstGeom prst="rect">
            <a:avLst/>
          </a:prstGeom>
          <a:noFill/>
          <a:ln/>
        </p:spPr>
        <p:txBody>
          <a:bodyPr wrap="square" lIns="0" tIns="0" rIns="0" bIns="0" rtlCol="0" anchor="ctr"/>
          <a:lstStyle/>
          <a:p>
            <a:pPr indent="0" marL="0">
              <a:buNone/>
            </a:pPr>
            <a:r>
              <a:rPr lang="en-US" sz="1300" b="1" spc="300" kern="0" dirty="0">
                <a:solidFill>
                  <a:srgbClr val="F46800"/>
                </a:solidFill>
                <a:latin typeface="Calibri" pitchFamily="34" charset="0"/>
                <a:ea typeface="Calibri" pitchFamily="34" charset="-122"/>
                <a:cs typeface="Calibri" pitchFamily="34" charset="-120"/>
              </a:rPr>
              <a:t>HOW THIS STARTED</a:t>
            </a:r>
            <a:endParaRPr lang="en-US" sz="1300" dirty="0"/>
          </a:p>
        </p:txBody>
      </p:sp>
      <p:sp>
        <p:nvSpPr>
          <p:cNvPr id="3" name="Text 1"/>
          <p:cNvSpPr/>
          <p:nvPr/>
        </p:nvSpPr>
        <p:spPr>
          <a:xfrm>
            <a:off x="640080" y="1371600"/>
            <a:ext cx="10789920" cy="822960"/>
          </a:xfrm>
          <a:prstGeom prst="rect">
            <a:avLst/>
          </a:prstGeom>
          <a:noFill/>
          <a:ln/>
        </p:spPr>
        <p:txBody>
          <a:bodyPr wrap="square" lIns="0" tIns="0" rIns="0" bIns="0" rtlCol="0" anchor="ctr"/>
          <a:lstStyle/>
          <a:p>
            <a:pPr indent="0" marL="0">
              <a:buNone/>
            </a:pPr>
            <a:r>
              <a:rPr lang="en-US" sz="3600" b="1" dirty="0">
                <a:solidFill>
                  <a:srgbClr val="F4F5F7"/>
                </a:solidFill>
                <a:latin typeface="Trebuchet MS" pitchFamily="34" charset="0"/>
                <a:ea typeface="Trebuchet MS" pitchFamily="34" charset="-122"/>
                <a:cs typeface="Trebuchet MS" pitchFamily="34" charset="-120"/>
              </a:rPr>
              <a:t>It began as one jar and one question.</a:t>
            </a:r>
            <a:endParaRPr lang="en-US" sz="3600" dirty="0"/>
          </a:p>
        </p:txBody>
      </p:sp>
      <p:sp>
        <p:nvSpPr>
          <p:cNvPr id="4" name="Shape 2"/>
          <p:cNvSpPr/>
          <p:nvPr/>
        </p:nvSpPr>
        <p:spPr>
          <a:xfrm>
            <a:off x="640080" y="2514600"/>
            <a:ext cx="566928" cy="566928"/>
          </a:xfrm>
          <a:prstGeom prst="ellipse">
            <a:avLst/>
          </a:prstGeom>
          <a:solidFill>
            <a:srgbClr val="1B1F2B"/>
          </a:solidFill>
          <a:ln w="19050">
            <a:solidFill>
              <a:srgbClr val="F46800"/>
            </a:solidFill>
            <a:prstDash val="solid"/>
          </a:ln>
        </p:spPr>
      </p:sp>
      <p:sp>
        <p:nvSpPr>
          <p:cNvPr id="5" name="Text 3"/>
          <p:cNvSpPr/>
          <p:nvPr/>
        </p:nvSpPr>
        <p:spPr>
          <a:xfrm>
            <a:off x="640080" y="2514600"/>
            <a:ext cx="566928" cy="566928"/>
          </a:xfrm>
          <a:prstGeom prst="rect">
            <a:avLst/>
          </a:prstGeom>
          <a:noFill/>
          <a:ln/>
        </p:spPr>
        <p:txBody>
          <a:bodyPr wrap="square" lIns="0" tIns="0" rIns="0" bIns="0" rtlCol="0" anchor="ctr"/>
          <a:lstStyle/>
          <a:p>
            <a:pPr algn="ctr" indent="0" marL="0">
              <a:buNone/>
            </a:pPr>
            <a:r>
              <a:rPr lang="en-US" sz="2200" b="1" dirty="0">
                <a:solidFill>
                  <a:srgbClr val="F46800"/>
                </a:solidFill>
                <a:latin typeface="Trebuchet MS" pitchFamily="34" charset="0"/>
                <a:ea typeface="Trebuchet MS" pitchFamily="34" charset="-122"/>
                <a:cs typeface="Trebuchet MS" pitchFamily="34" charset="-120"/>
              </a:rPr>
              <a:t>1</a:t>
            </a:r>
            <a:endParaRPr lang="en-US" sz="2200" dirty="0"/>
          </a:p>
        </p:txBody>
      </p:sp>
      <p:sp>
        <p:nvSpPr>
          <p:cNvPr id="6" name="Text 4"/>
          <p:cNvSpPr/>
          <p:nvPr/>
        </p:nvSpPr>
        <p:spPr>
          <a:xfrm>
            <a:off x="1463040" y="2496312"/>
            <a:ext cx="6949440" cy="640080"/>
          </a:xfrm>
          <a:prstGeom prst="rect">
            <a:avLst/>
          </a:prstGeom>
          <a:noFill/>
          <a:ln/>
        </p:spPr>
        <p:txBody>
          <a:bodyPr wrap="square" lIns="0" tIns="0" rIns="0" bIns="0" rtlCol="0" anchor="ctr"/>
          <a:lstStyle/>
          <a:p>
            <a:pPr indent="0" marL="0">
              <a:buNone/>
            </a:pPr>
            <a:r>
              <a:rPr lang="en-US" sz="1700" dirty="0">
                <a:solidFill>
                  <a:srgbClr val="F4F5F7"/>
                </a:solidFill>
                <a:latin typeface="Calibri" pitchFamily="34" charset="0"/>
                <a:ea typeface="Calibri" pitchFamily="34" charset="-122"/>
                <a:cs typeface="Calibri" pitchFamily="34" charset="-120"/>
              </a:rPr>
              <a:t>Pulled the OTel agent jar from the internal Nexus repo.</a:t>
            </a:r>
            <a:endParaRPr lang="en-US" sz="1700" dirty="0"/>
          </a:p>
        </p:txBody>
      </p:sp>
      <p:sp>
        <p:nvSpPr>
          <p:cNvPr id="7" name="Shape 5"/>
          <p:cNvSpPr/>
          <p:nvPr/>
        </p:nvSpPr>
        <p:spPr>
          <a:xfrm>
            <a:off x="640080" y="3355848"/>
            <a:ext cx="566928" cy="566928"/>
          </a:xfrm>
          <a:prstGeom prst="ellipse">
            <a:avLst/>
          </a:prstGeom>
          <a:solidFill>
            <a:srgbClr val="1B1F2B"/>
          </a:solidFill>
          <a:ln w="19050">
            <a:solidFill>
              <a:srgbClr val="F46800"/>
            </a:solidFill>
            <a:prstDash val="solid"/>
          </a:ln>
        </p:spPr>
      </p:sp>
      <p:sp>
        <p:nvSpPr>
          <p:cNvPr id="8" name="Text 6"/>
          <p:cNvSpPr/>
          <p:nvPr/>
        </p:nvSpPr>
        <p:spPr>
          <a:xfrm>
            <a:off x="640080" y="3355848"/>
            <a:ext cx="566928" cy="566928"/>
          </a:xfrm>
          <a:prstGeom prst="rect">
            <a:avLst/>
          </a:prstGeom>
          <a:noFill/>
          <a:ln/>
        </p:spPr>
        <p:txBody>
          <a:bodyPr wrap="square" lIns="0" tIns="0" rIns="0" bIns="0" rtlCol="0" anchor="ctr"/>
          <a:lstStyle/>
          <a:p>
            <a:pPr algn="ctr" indent="0" marL="0">
              <a:buNone/>
            </a:pPr>
            <a:r>
              <a:rPr lang="en-US" sz="2200" b="1" dirty="0">
                <a:solidFill>
                  <a:srgbClr val="F46800"/>
                </a:solidFill>
                <a:latin typeface="Trebuchet MS" pitchFamily="34" charset="0"/>
                <a:ea typeface="Trebuchet MS" pitchFamily="34" charset="-122"/>
                <a:cs typeface="Trebuchet MS" pitchFamily="34" charset="-120"/>
              </a:rPr>
              <a:t>2</a:t>
            </a:r>
            <a:endParaRPr lang="en-US" sz="2200" dirty="0"/>
          </a:p>
        </p:txBody>
      </p:sp>
      <p:sp>
        <p:nvSpPr>
          <p:cNvPr id="9" name="Text 7"/>
          <p:cNvSpPr/>
          <p:nvPr/>
        </p:nvSpPr>
        <p:spPr>
          <a:xfrm>
            <a:off x="1463040" y="3337560"/>
            <a:ext cx="6949440" cy="640080"/>
          </a:xfrm>
          <a:prstGeom prst="rect">
            <a:avLst/>
          </a:prstGeom>
          <a:noFill/>
          <a:ln/>
        </p:spPr>
        <p:txBody>
          <a:bodyPr wrap="square" lIns="0" tIns="0" rIns="0" bIns="0" rtlCol="0" anchor="ctr"/>
          <a:lstStyle/>
          <a:p>
            <a:pPr indent="0" marL="0">
              <a:buNone/>
            </a:pPr>
            <a:r>
              <a:rPr lang="en-US" sz="1700" dirty="0">
                <a:solidFill>
                  <a:srgbClr val="F4F5F7"/>
                </a:solidFill>
                <a:latin typeface="Calibri" pitchFamily="34" charset="0"/>
                <a:ea typeface="Calibri" pitchFamily="34" charset="-122"/>
                <a:cs typeface="Calibri" pitchFamily="34" charset="-120"/>
              </a:rPr>
              <a:t>Attached it to my app running locally — no code touched.</a:t>
            </a:r>
            <a:endParaRPr lang="en-US" sz="1700" dirty="0"/>
          </a:p>
        </p:txBody>
      </p:sp>
      <p:sp>
        <p:nvSpPr>
          <p:cNvPr id="10" name="Shape 8"/>
          <p:cNvSpPr/>
          <p:nvPr/>
        </p:nvSpPr>
        <p:spPr>
          <a:xfrm>
            <a:off x="640080" y="4197096"/>
            <a:ext cx="566928" cy="566928"/>
          </a:xfrm>
          <a:prstGeom prst="ellipse">
            <a:avLst/>
          </a:prstGeom>
          <a:solidFill>
            <a:srgbClr val="1B1F2B"/>
          </a:solidFill>
          <a:ln w="19050">
            <a:solidFill>
              <a:srgbClr val="F46800"/>
            </a:solidFill>
            <a:prstDash val="solid"/>
          </a:ln>
        </p:spPr>
      </p:sp>
      <p:sp>
        <p:nvSpPr>
          <p:cNvPr id="11" name="Text 9"/>
          <p:cNvSpPr/>
          <p:nvPr/>
        </p:nvSpPr>
        <p:spPr>
          <a:xfrm>
            <a:off x="640080" y="4197096"/>
            <a:ext cx="566928" cy="566928"/>
          </a:xfrm>
          <a:prstGeom prst="rect">
            <a:avLst/>
          </a:prstGeom>
          <a:noFill/>
          <a:ln/>
        </p:spPr>
        <p:txBody>
          <a:bodyPr wrap="square" lIns="0" tIns="0" rIns="0" bIns="0" rtlCol="0" anchor="ctr"/>
          <a:lstStyle/>
          <a:p>
            <a:pPr algn="ctr" indent="0" marL="0">
              <a:buNone/>
            </a:pPr>
            <a:r>
              <a:rPr lang="en-US" sz="2200" b="1" dirty="0">
                <a:solidFill>
                  <a:srgbClr val="F46800"/>
                </a:solidFill>
                <a:latin typeface="Trebuchet MS" pitchFamily="34" charset="0"/>
                <a:ea typeface="Trebuchet MS" pitchFamily="34" charset="-122"/>
                <a:cs typeface="Trebuchet MS" pitchFamily="34" charset="-120"/>
              </a:rPr>
              <a:t>3</a:t>
            </a:r>
            <a:endParaRPr lang="en-US" sz="2200" dirty="0"/>
          </a:p>
        </p:txBody>
      </p:sp>
      <p:sp>
        <p:nvSpPr>
          <p:cNvPr id="12" name="Text 10"/>
          <p:cNvSpPr/>
          <p:nvPr/>
        </p:nvSpPr>
        <p:spPr>
          <a:xfrm>
            <a:off x="1463040" y="4178808"/>
            <a:ext cx="6949440" cy="640080"/>
          </a:xfrm>
          <a:prstGeom prst="rect">
            <a:avLst/>
          </a:prstGeom>
          <a:noFill/>
          <a:ln/>
        </p:spPr>
        <p:txBody>
          <a:bodyPr wrap="square" lIns="0" tIns="0" rIns="0" bIns="0" rtlCol="0" anchor="ctr"/>
          <a:lstStyle/>
          <a:p>
            <a:pPr indent="0" marL="0">
              <a:buNone/>
            </a:pPr>
            <a:r>
              <a:rPr lang="en-US" sz="1700" dirty="0">
                <a:solidFill>
                  <a:srgbClr val="F4F5F7"/>
                </a:solidFill>
                <a:latin typeface="Calibri" pitchFamily="34" charset="0"/>
                <a:ea typeface="Calibri" pitchFamily="34" charset="-122"/>
                <a:cs typeface="Calibri" pitchFamily="34" charset="-120"/>
              </a:rPr>
              <a:t>Pointed it at the endpoints and set the org-id header.</a:t>
            </a:r>
            <a:endParaRPr lang="en-US" sz="1700" dirty="0"/>
          </a:p>
        </p:txBody>
      </p:sp>
      <p:sp>
        <p:nvSpPr>
          <p:cNvPr id="13" name="Shape 11"/>
          <p:cNvSpPr/>
          <p:nvPr/>
        </p:nvSpPr>
        <p:spPr>
          <a:xfrm>
            <a:off x="640080" y="5038344"/>
            <a:ext cx="566928" cy="566928"/>
          </a:xfrm>
          <a:prstGeom prst="ellipse">
            <a:avLst/>
          </a:prstGeom>
          <a:solidFill>
            <a:srgbClr val="1B1F2B"/>
          </a:solidFill>
          <a:ln w="19050">
            <a:solidFill>
              <a:srgbClr val="F46800"/>
            </a:solidFill>
            <a:prstDash val="solid"/>
          </a:ln>
        </p:spPr>
      </p:sp>
      <p:sp>
        <p:nvSpPr>
          <p:cNvPr id="14" name="Text 12"/>
          <p:cNvSpPr/>
          <p:nvPr/>
        </p:nvSpPr>
        <p:spPr>
          <a:xfrm>
            <a:off x="640080" y="5038344"/>
            <a:ext cx="566928" cy="566928"/>
          </a:xfrm>
          <a:prstGeom prst="rect">
            <a:avLst/>
          </a:prstGeom>
          <a:noFill/>
          <a:ln/>
        </p:spPr>
        <p:txBody>
          <a:bodyPr wrap="square" lIns="0" tIns="0" rIns="0" bIns="0" rtlCol="0" anchor="ctr"/>
          <a:lstStyle/>
          <a:p>
            <a:pPr algn="ctr" indent="0" marL="0">
              <a:buNone/>
            </a:pPr>
            <a:r>
              <a:rPr lang="en-US" sz="2200" b="1" dirty="0">
                <a:solidFill>
                  <a:srgbClr val="F46800"/>
                </a:solidFill>
                <a:latin typeface="Trebuchet MS" pitchFamily="34" charset="0"/>
                <a:ea typeface="Trebuchet MS" pitchFamily="34" charset="-122"/>
                <a:cs typeface="Trebuchet MS" pitchFamily="34" charset="-120"/>
              </a:rPr>
              <a:t>4</a:t>
            </a:r>
            <a:endParaRPr lang="en-US" sz="2200" dirty="0"/>
          </a:p>
        </p:txBody>
      </p:sp>
      <p:sp>
        <p:nvSpPr>
          <p:cNvPr id="15" name="Text 13"/>
          <p:cNvSpPr/>
          <p:nvPr/>
        </p:nvSpPr>
        <p:spPr>
          <a:xfrm>
            <a:off x="1463040" y="5020056"/>
            <a:ext cx="6949440" cy="640080"/>
          </a:xfrm>
          <a:prstGeom prst="rect">
            <a:avLst/>
          </a:prstGeom>
          <a:noFill/>
          <a:ln/>
        </p:spPr>
        <p:txBody>
          <a:bodyPr wrap="square" lIns="0" tIns="0" rIns="0" bIns="0" rtlCol="0" anchor="ctr"/>
          <a:lstStyle/>
          <a:p>
            <a:pPr indent="0" marL="0">
              <a:buNone/>
            </a:pPr>
            <a:r>
              <a:rPr lang="en-US" sz="1700" dirty="0">
                <a:solidFill>
                  <a:srgbClr val="F4F5F7"/>
                </a:solidFill>
                <a:latin typeface="Calibri" pitchFamily="34" charset="0"/>
                <a:ea typeface="Calibri" pitchFamily="34" charset="-122"/>
                <a:cs typeface="Calibri" pitchFamily="34" charset="-120"/>
              </a:rPr>
              <a:t>Opened Grafana and asked: “Are my logs showing up?”  They were.</a:t>
            </a:r>
            <a:endParaRPr lang="en-US" sz="1700" dirty="0"/>
          </a:p>
        </p:txBody>
      </p:sp>
      <p:sp>
        <p:nvSpPr>
          <p:cNvPr id="16" name="Shape 14"/>
          <p:cNvSpPr/>
          <p:nvPr/>
        </p:nvSpPr>
        <p:spPr>
          <a:xfrm>
            <a:off x="8778240" y="2514600"/>
            <a:ext cx="3108960" cy="3200400"/>
          </a:xfrm>
          <a:prstGeom prst="rect">
            <a:avLst/>
          </a:prstGeom>
          <a:solidFill>
            <a:srgbClr val="1B1F2B"/>
          </a:solidFill>
          <a:ln w="19050">
            <a:solidFill>
              <a:srgbClr val="F46800"/>
            </a:solidFill>
            <a:prstDash val="solid"/>
          </a:ln>
          <a:effectLst>
            <a:outerShdw sx="100000" sy="100000" kx="0" ky="0" algn="bl" rotWithShape="0" blurRad="114300" dist="38100" dir="8100000">
              <a:srgbClr val="000000">
                <a:alpha val="35000"/>
              </a:srgbClr>
            </a:outerShdw>
          </a:effectLst>
        </p:spPr>
      </p:sp>
      <p:sp>
        <p:nvSpPr>
          <p:cNvPr id="17" name="Text 15"/>
          <p:cNvSpPr/>
          <p:nvPr/>
        </p:nvSpPr>
        <p:spPr>
          <a:xfrm>
            <a:off x="9006840" y="2697480"/>
            <a:ext cx="2651760" cy="365760"/>
          </a:xfrm>
          <a:prstGeom prst="rect">
            <a:avLst/>
          </a:prstGeom>
          <a:noFill/>
          <a:ln/>
        </p:spPr>
        <p:txBody>
          <a:bodyPr wrap="square" lIns="0" tIns="0" rIns="0" bIns="0" rtlCol="0" anchor="ctr"/>
          <a:lstStyle/>
          <a:p>
            <a:pPr indent="0" marL="0">
              <a:buNone/>
            </a:pPr>
            <a:r>
              <a:rPr lang="en-US" sz="1300" b="1" dirty="0">
                <a:solidFill>
                  <a:srgbClr val="F46800"/>
                </a:solidFill>
                <a:latin typeface="Calibri" pitchFamily="34" charset="0"/>
                <a:ea typeface="Calibri" pitchFamily="34" charset="-122"/>
                <a:cs typeface="Calibri" pitchFamily="34" charset="-120"/>
              </a:rPr>
              <a:t>The honest truth</a:t>
            </a:r>
            <a:endParaRPr lang="en-US" sz="1300" dirty="0"/>
          </a:p>
        </p:txBody>
      </p:sp>
      <p:sp>
        <p:nvSpPr>
          <p:cNvPr id="18" name="Text 16"/>
          <p:cNvSpPr/>
          <p:nvPr/>
        </p:nvSpPr>
        <p:spPr>
          <a:xfrm>
            <a:off x="9006840" y="3108960"/>
            <a:ext cx="2697480" cy="2468880"/>
          </a:xfrm>
          <a:prstGeom prst="rect">
            <a:avLst/>
          </a:prstGeom>
          <a:noFill/>
          <a:ln/>
        </p:spPr>
        <p:txBody>
          <a:bodyPr wrap="square" lIns="0" tIns="0" rIns="0" bIns="0" rtlCol="0" anchor="ctr"/>
          <a:lstStyle/>
          <a:p>
            <a:pPr indent="0" marL="0">
              <a:buNone/>
            </a:pPr>
            <a:r>
              <a:rPr lang="en-US" sz="1400" dirty="0">
                <a:solidFill>
                  <a:srgbClr val="F4F5F7"/>
                </a:solidFill>
                <a:latin typeface="Calibri" pitchFamily="34" charset="0"/>
                <a:ea typeface="Calibri" pitchFamily="34" charset="-122"/>
                <a:cs typeface="Calibri" pitchFamily="34" charset="-120"/>
              </a:rPr>
              <a:t>It felt almost too easy.</a:t>
            </a:r>
            <a:endParaRPr lang="en-US" sz="1400" dirty="0"/>
          </a:p>
          <a:p>
            <a:pPr indent="0" marL="0">
              <a:buNone/>
            </a:pPr>
            <a:endParaRPr lang="en-US" sz="1400" dirty="0"/>
          </a:p>
          <a:p>
            <a:pPr indent="0" marL="0">
              <a:buNone/>
            </a:pPr>
            <a:r>
              <a:rPr lang="en-US" sz="1400" dirty="0">
                <a:solidFill>
                  <a:srgbClr val="F4F5F7"/>
                </a:solidFill>
                <a:latin typeface="Calibri" pitchFamily="34" charset="0"/>
                <a:ea typeface="Calibri" pitchFamily="34" charset="-122"/>
                <a:cs typeface="Calibri" pitchFamily="34" charset="-120"/>
              </a:rPr>
              <a:t>That's not luck — that's the point of auto-instrumentation. The hard engineering is done so onboarding becomes a config change.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ONBOARDING · STEP 1 OF 2</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Java / Spring Boot — zero code changes</a:t>
            </a:r>
            <a:endParaRPr lang="en-US" sz="3000" dirty="0"/>
          </a:p>
        </p:txBody>
      </p:sp>
      <p:pic>
        <p:nvPicPr>
          <p:cNvPr id="4" name="Image 0" descr="preencoded.png">    </p:cNvPr>
          <p:cNvPicPr>
            <a:picLocks noChangeAspect="1"/>
          </p:cNvPicPr>
          <p:nvPr/>
        </p:nvPicPr>
        <p:blipFill>
          <a:blip r:embed="rId1"/>
          <a:stretch>
            <a:fillRect/>
          </a:stretch>
        </p:blipFill>
        <p:spPr>
          <a:xfrm>
            <a:off x="10424160" y="502920"/>
            <a:ext cx="822960" cy="822960"/>
          </a:xfrm>
          <a:prstGeom prst="rect">
            <a:avLst/>
          </a:prstGeom>
        </p:spPr>
      </p:pic>
      <p:sp>
        <p:nvSpPr>
          <p:cNvPr id="5" name="Shape 2"/>
          <p:cNvSpPr/>
          <p:nvPr/>
        </p:nvSpPr>
        <p:spPr>
          <a:xfrm>
            <a:off x="640080" y="1600200"/>
            <a:ext cx="5669280" cy="731520"/>
          </a:xfrm>
          <a:prstGeom prst="rect">
            <a:avLst/>
          </a:prstGeom>
          <a:solidFill>
            <a:srgbClr val="1B1F2B"/>
          </a:solidFill>
          <a:ln w="12700">
            <a:solidFill>
              <a:srgbClr val="232838"/>
            </a:solidFill>
            <a:prstDash val="solid"/>
          </a:ln>
        </p:spPr>
      </p:sp>
      <p:sp>
        <p:nvSpPr>
          <p:cNvPr id="6" name="Text 3"/>
          <p:cNvSpPr/>
          <p:nvPr/>
        </p:nvSpPr>
        <p:spPr>
          <a:xfrm>
            <a:off x="749808" y="1691640"/>
            <a:ext cx="548640" cy="548640"/>
          </a:xfrm>
          <a:prstGeom prst="rect">
            <a:avLst/>
          </a:prstGeom>
          <a:noFill/>
          <a:ln/>
        </p:spPr>
        <p:txBody>
          <a:bodyPr wrap="square" lIns="0" tIns="0" rIns="0" bIns="0" rtlCol="0" anchor="ctr"/>
          <a:lstStyle/>
          <a:p>
            <a:pPr algn="ctr" indent="0" marL="0">
              <a:buNone/>
            </a:pPr>
            <a:r>
              <a:rPr lang="en-US" sz="2600" b="1" dirty="0">
                <a:solidFill>
                  <a:srgbClr val="F46800"/>
                </a:solidFill>
                <a:latin typeface="Trebuchet MS" pitchFamily="34" charset="0"/>
                <a:ea typeface="Trebuchet MS" pitchFamily="34" charset="-122"/>
                <a:cs typeface="Trebuchet MS" pitchFamily="34" charset="-120"/>
              </a:rPr>
              <a:t>1</a:t>
            </a:r>
            <a:endParaRPr lang="en-US" sz="2600" dirty="0"/>
          </a:p>
        </p:txBody>
      </p:sp>
      <p:sp>
        <p:nvSpPr>
          <p:cNvPr id="7" name="Text 4"/>
          <p:cNvSpPr/>
          <p:nvPr/>
        </p:nvSpPr>
        <p:spPr>
          <a:xfrm>
            <a:off x="1371600" y="1673352"/>
            <a:ext cx="4846320" cy="320040"/>
          </a:xfrm>
          <a:prstGeom prst="rect">
            <a:avLst/>
          </a:prstGeom>
          <a:noFill/>
          <a:ln/>
        </p:spPr>
        <p:txBody>
          <a:bodyPr wrap="square" lIns="0" tIns="0" rIns="0" bIns="0" rtlCol="0" anchor="ctr"/>
          <a:lstStyle/>
          <a:p>
            <a:pPr indent="0" marL="0">
              <a:buNone/>
            </a:pPr>
            <a:r>
              <a:rPr lang="en-US" sz="1500" b="1" dirty="0">
                <a:solidFill>
                  <a:srgbClr val="F4F5F7"/>
                </a:solidFill>
                <a:latin typeface="Trebuchet MS" pitchFamily="34" charset="0"/>
                <a:ea typeface="Trebuchet MS" pitchFamily="34" charset="-122"/>
                <a:cs typeface="Trebuchet MS" pitchFamily="34" charset="-120"/>
              </a:rPr>
              <a:t>Get the agent</a:t>
            </a:r>
            <a:endParaRPr lang="en-US" sz="1500" dirty="0"/>
          </a:p>
        </p:txBody>
      </p:sp>
      <p:sp>
        <p:nvSpPr>
          <p:cNvPr id="8" name="Text 5"/>
          <p:cNvSpPr/>
          <p:nvPr/>
        </p:nvSpPr>
        <p:spPr>
          <a:xfrm>
            <a:off x="1371600" y="1984248"/>
            <a:ext cx="4846320" cy="320040"/>
          </a:xfrm>
          <a:prstGeom prst="rect">
            <a:avLst/>
          </a:prstGeom>
          <a:noFill/>
          <a:ln/>
        </p:spPr>
        <p:txBody>
          <a:bodyPr wrap="square" lIns="0" tIns="0" rIns="0" bIns="0" rtlCol="0" anchor="ctr"/>
          <a:lstStyle/>
          <a:p>
            <a:pPr indent="0" marL="0">
              <a:buNone/>
            </a:pPr>
            <a:r>
              <a:rPr lang="en-US" sz="1150" dirty="0">
                <a:solidFill>
                  <a:srgbClr val="9BA1AE"/>
                </a:solidFill>
                <a:latin typeface="Calibri" pitchFamily="34" charset="0"/>
                <a:ea typeface="Calibri" pitchFamily="34" charset="-122"/>
                <a:cs typeface="Calibri" pitchFamily="34" charset="-120"/>
              </a:rPr>
              <a:t>Download opentelemetry-javaagent.jar from the internal Nexus repo.</a:t>
            </a:r>
            <a:endParaRPr lang="en-US" sz="1150" dirty="0"/>
          </a:p>
        </p:txBody>
      </p:sp>
      <p:sp>
        <p:nvSpPr>
          <p:cNvPr id="9" name="Shape 6"/>
          <p:cNvSpPr/>
          <p:nvPr/>
        </p:nvSpPr>
        <p:spPr>
          <a:xfrm>
            <a:off x="640080" y="2441448"/>
            <a:ext cx="5669280" cy="731520"/>
          </a:xfrm>
          <a:prstGeom prst="rect">
            <a:avLst/>
          </a:prstGeom>
          <a:solidFill>
            <a:srgbClr val="1B1F2B"/>
          </a:solidFill>
          <a:ln w="12700">
            <a:solidFill>
              <a:srgbClr val="232838"/>
            </a:solidFill>
            <a:prstDash val="solid"/>
          </a:ln>
        </p:spPr>
      </p:sp>
      <p:sp>
        <p:nvSpPr>
          <p:cNvPr id="10" name="Text 7"/>
          <p:cNvSpPr/>
          <p:nvPr/>
        </p:nvSpPr>
        <p:spPr>
          <a:xfrm>
            <a:off x="749808" y="2532888"/>
            <a:ext cx="548640" cy="548640"/>
          </a:xfrm>
          <a:prstGeom prst="rect">
            <a:avLst/>
          </a:prstGeom>
          <a:noFill/>
          <a:ln/>
        </p:spPr>
        <p:txBody>
          <a:bodyPr wrap="square" lIns="0" tIns="0" rIns="0" bIns="0" rtlCol="0" anchor="ctr"/>
          <a:lstStyle/>
          <a:p>
            <a:pPr algn="ctr" indent="0" marL="0">
              <a:buNone/>
            </a:pPr>
            <a:r>
              <a:rPr lang="en-US" sz="2600" b="1" dirty="0">
                <a:solidFill>
                  <a:srgbClr val="F46800"/>
                </a:solidFill>
                <a:latin typeface="Trebuchet MS" pitchFamily="34" charset="0"/>
                <a:ea typeface="Trebuchet MS" pitchFamily="34" charset="-122"/>
                <a:cs typeface="Trebuchet MS" pitchFamily="34" charset="-120"/>
              </a:rPr>
              <a:t>2</a:t>
            </a:r>
            <a:endParaRPr lang="en-US" sz="2600" dirty="0"/>
          </a:p>
        </p:txBody>
      </p:sp>
      <p:sp>
        <p:nvSpPr>
          <p:cNvPr id="11" name="Text 8"/>
          <p:cNvSpPr/>
          <p:nvPr/>
        </p:nvSpPr>
        <p:spPr>
          <a:xfrm>
            <a:off x="1371600" y="2514600"/>
            <a:ext cx="4846320" cy="320040"/>
          </a:xfrm>
          <a:prstGeom prst="rect">
            <a:avLst/>
          </a:prstGeom>
          <a:noFill/>
          <a:ln/>
        </p:spPr>
        <p:txBody>
          <a:bodyPr wrap="square" lIns="0" tIns="0" rIns="0" bIns="0" rtlCol="0" anchor="ctr"/>
          <a:lstStyle/>
          <a:p>
            <a:pPr indent="0" marL="0">
              <a:buNone/>
            </a:pPr>
            <a:r>
              <a:rPr lang="en-US" sz="1500" b="1" dirty="0">
                <a:solidFill>
                  <a:srgbClr val="F4F5F7"/>
                </a:solidFill>
                <a:latin typeface="Trebuchet MS" pitchFamily="34" charset="0"/>
                <a:ea typeface="Trebuchet MS" pitchFamily="34" charset="-122"/>
                <a:cs typeface="Trebuchet MS" pitchFamily="34" charset="-120"/>
              </a:rPr>
              <a:t>Attach it</a:t>
            </a:r>
            <a:endParaRPr lang="en-US" sz="1500" dirty="0"/>
          </a:p>
        </p:txBody>
      </p:sp>
      <p:sp>
        <p:nvSpPr>
          <p:cNvPr id="12" name="Text 9"/>
          <p:cNvSpPr/>
          <p:nvPr/>
        </p:nvSpPr>
        <p:spPr>
          <a:xfrm>
            <a:off x="1371600" y="2825496"/>
            <a:ext cx="4846320" cy="320040"/>
          </a:xfrm>
          <a:prstGeom prst="rect">
            <a:avLst/>
          </a:prstGeom>
          <a:noFill/>
          <a:ln/>
        </p:spPr>
        <p:txBody>
          <a:bodyPr wrap="square" lIns="0" tIns="0" rIns="0" bIns="0" rtlCol="0" anchor="ctr"/>
          <a:lstStyle/>
          <a:p>
            <a:pPr indent="0" marL="0">
              <a:buNone/>
            </a:pPr>
            <a:r>
              <a:rPr lang="en-US" sz="1150" dirty="0">
                <a:solidFill>
                  <a:srgbClr val="9BA1AE"/>
                </a:solidFill>
                <a:latin typeface="Calibri" pitchFamily="34" charset="0"/>
                <a:ea typeface="Calibri" pitchFamily="34" charset="-122"/>
                <a:cs typeface="Calibri" pitchFamily="34" charset="-120"/>
              </a:rPr>
              <a:t>Add -javaagent:/path/opentelemetry-javaagent.jar to your JVM start-up. No code edits.</a:t>
            </a:r>
            <a:endParaRPr lang="en-US" sz="1150" dirty="0"/>
          </a:p>
        </p:txBody>
      </p:sp>
      <p:sp>
        <p:nvSpPr>
          <p:cNvPr id="13" name="Shape 10"/>
          <p:cNvSpPr/>
          <p:nvPr/>
        </p:nvSpPr>
        <p:spPr>
          <a:xfrm>
            <a:off x="640080" y="3282696"/>
            <a:ext cx="5669280" cy="731520"/>
          </a:xfrm>
          <a:prstGeom prst="rect">
            <a:avLst/>
          </a:prstGeom>
          <a:solidFill>
            <a:srgbClr val="1B1F2B"/>
          </a:solidFill>
          <a:ln w="12700">
            <a:solidFill>
              <a:srgbClr val="232838"/>
            </a:solidFill>
            <a:prstDash val="solid"/>
          </a:ln>
        </p:spPr>
      </p:sp>
      <p:sp>
        <p:nvSpPr>
          <p:cNvPr id="14" name="Text 11"/>
          <p:cNvSpPr/>
          <p:nvPr/>
        </p:nvSpPr>
        <p:spPr>
          <a:xfrm>
            <a:off x="749808" y="3374136"/>
            <a:ext cx="548640" cy="548640"/>
          </a:xfrm>
          <a:prstGeom prst="rect">
            <a:avLst/>
          </a:prstGeom>
          <a:noFill/>
          <a:ln/>
        </p:spPr>
        <p:txBody>
          <a:bodyPr wrap="square" lIns="0" tIns="0" rIns="0" bIns="0" rtlCol="0" anchor="ctr"/>
          <a:lstStyle/>
          <a:p>
            <a:pPr algn="ctr" indent="0" marL="0">
              <a:buNone/>
            </a:pPr>
            <a:r>
              <a:rPr lang="en-US" sz="2600" b="1" dirty="0">
                <a:solidFill>
                  <a:srgbClr val="F46800"/>
                </a:solidFill>
                <a:latin typeface="Trebuchet MS" pitchFamily="34" charset="0"/>
                <a:ea typeface="Trebuchet MS" pitchFamily="34" charset="-122"/>
                <a:cs typeface="Trebuchet MS" pitchFamily="34" charset="-120"/>
              </a:rPr>
              <a:t>3</a:t>
            </a:r>
            <a:endParaRPr lang="en-US" sz="2600" dirty="0"/>
          </a:p>
        </p:txBody>
      </p:sp>
      <p:sp>
        <p:nvSpPr>
          <p:cNvPr id="15" name="Text 12"/>
          <p:cNvSpPr/>
          <p:nvPr/>
        </p:nvSpPr>
        <p:spPr>
          <a:xfrm>
            <a:off x="1371600" y="3355848"/>
            <a:ext cx="4846320" cy="320040"/>
          </a:xfrm>
          <a:prstGeom prst="rect">
            <a:avLst/>
          </a:prstGeom>
          <a:noFill/>
          <a:ln/>
        </p:spPr>
        <p:txBody>
          <a:bodyPr wrap="square" lIns="0" tIns="0" rIns="0" bIns="0" rtlCol="0" anchor="ctr"/>
          <a:lstStyle/>
          <a:p>
            <a:pPr indent="0" marL="0">
              <a:buNone/>
            </a:pPr>
            <a:r>
              <a:rPr lang="en-US" sz="1500" b="1" dirty="0">
                <a:solidFill>
                  <a:srgbClr val="F4F5F7"/>
                </a:solidFill>
                <a:latin typeface="Trebuchet MS" pitchFamily="34" charset="0"/>
                <a:ea typeface="Trebuchet MS" pitchFamily="34" charset="-122"/>
                <a:cs typeface="Trebuchet MS" pitchFamily="34" charset="-120"/>
              </a:rPr>
              <a:t>Configure</a:t>
            </a:r>
            <a:endParaRPr lang="en-US" sz="1500" dirty="0"/>
          </a:p>
        </p:txBody>
      </p:sp>
      <p:sp>
        <p:nvSpPr>
          <p:cNvPr id="16" name="Text 13"/>
          <p:cNvSpPr/>
          <p:nvPr/>
        </p:nvSpPr>
        <p:spPr>
          <a:xfrm>
            <a:off x="1371600" y="3666744"/>
            <a:ext cx="4846320" cy="320040"/>
          </a:xfrm>
          <a:prstGeom prst="rect">
            <a:avLst/>
          </a:prstGeom>
          <a:noFill/>
          <a:ln/>
        </p:spPr>
        <p:txBody>
          <a:bodyPr wrap="square" lIns="0" tIns="0" rIns="0" bIns="0" rtlCol="0" anchor="ctr"/>
          <a:lstStyle/>
          <a:p>
            <a:pPr indent="0" marL="0">
              <a:buNone/>
            </a:pPr>
            <a:r>
              <a:rPr lang="en-US" sz="1150" dirty="0">
                <a:solidFill>
                  <a:srgbClr val="9BA1AE"/>
                </a:solidFill>
                <a:latin typeface="Calibri" pitchFamily="34" charset="0"/>
                <a:ea typeface="Calibri" pitchFamily="34" charset="-122"/>
                <a:cs typeface="Calibri" pitchFamily="34" charset="-120"/>
              </a:rPr>
              <a:t>Set the OTLP endpoint, the X-Scope-OrgID header, and your service name.</a:t>
            </a:r>
            <a:endParaRPr lang="en-US" sz="1150" dirty="0"/>
          </a:p>
        </p:txBody>
      </p:sp>
      <p:sp>
        <p:nvSpPr>
          <p:cNvPr id="17" name="Shape 14"/>
          <p:cNvSpPr/>
          <p:nvPr/>
        </p:nvSpPr>
        <p:spPr>
          <a:xfrm>
            <a:off x="6766560" y="1600200"/>
            <a:ext cx="4846320" cy="3291840"/>
          </a:xfrm>
          <a:prstGeom prst="rect">
            <a:avLst/>
          </a:prstGeom>
          <a:solidFill>
            <a:srgbClr val="0B0D14"/>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18" name="Text 15"/>
          <p:cNvSpPr/>
          <p:nvPr/>
        </p:nvSpPr>
        <p:spPr>
          <a:xfrm>
            <a:off x="6949440" y="1737360"/>
            <a:ext cx="4572000" cy="274320"/>
          </a:xfrm>
          <a:prstGeom prst="rect">
            <a:avLst/>
          </a:prstGeom>
          <a:noFill/>
          <a:ln/>
        </p:spPr>
        <p:txBody>
          <a:bodyPr wrap="square" lIns="0" tIns="0" rIns="0" bIns="0" rtlCol="0" anchor="ctr"/>
          <a:lstStyle/>
          <a:p>
            <a:pPr indent="0" marL="0">
              <a:buNone/>
            </a:pPr>
            <a:r>
              <a:rPr lang="en-US" sz="1100" dirty="0">
                <a:solidFill>
                  <a:srgbClr val="6E7480"/>
                </a:solidFill>
                <a:latin typeface="Consolas" pitchFamily="34" charset="0"/>
                <a:ea typeface="Consolas" pitchFamily="34" charset="-122"/>
                <a:cs typeface="Consolas" pitchFamily="34" charset="-120"/>
              </a:rPr>
              <a:t>application.properties</a:t>
            </a:r>
            <a:endParaRPr lang="en-US" sz="1100" dirty="0"/>
          </a:p>
        </p:txBody>
      </p:sp>
      <p:sp>
        <p:nvSpPr>
          <p:cNvPr id="19" name="Text 16"/>
          <p:cNvSpPr/>
          <p:nvPr/>
        </p:nvSpPr>
        <p:spPr>
          <a:xfrm>
            <a:off x="6949440" y="2103120"/>
            <a:ext cx="4572000" cy="2743200"/>
          </a:xfrm>
          <a:prstGeom prst="rect">
            <a:avLst/>
          </a:prstGeom>
          <a:noFill/>
          <a:ln/>
        </p:spPr>
        <p:txBody>
          <a:bodyPr wrap="square" lIns="0" tIns="0" rIns="0" bIns="0" rtlCol="0" anchor="ctr"/>
          <a:lstStyle/>
          <a:p>
            <a:pPr indent="0" marL="0">
              <a:lnSpc>
                <a:spcPct val="115000"/>
              </a:lnSpc>
              <a:buNone/>
            </a:pPr>
            <a:r>
              <a:rPr lang="en-US" sz="1250" dirty="0">
                <a:solidFill>
                  <a:srgbClr val="33C5C9"/>
                </a:solidFill>
                <a:latin typeface="Consolas" pitchFamily="34" charset="0"/>
                <a:ea typeface="Consolas" pitchFamily="34" charset="-122"/>
                <a:cs typeface="Consolas" pitchFamily="34" charset="-120"/>
              </a:rPr>
              <a:t>otel.exporter.otlp.endpoint=\
</a:t>
            </a:r>
            <a:endParaRPr lang="en-US" sz="1250" dirty="0"/>
          </a:p>
          <a:p>
            <a:pPr indent="0" marL="0">
              <a:lnSpc>
                <a:spcPct val="115000"/>
              </a:lnSpc>
              <a:buNone/>
            </a:pPr>
            <a:r>
              <a:rPr lang="en-US" sz="1250" dirty="0">
                <a:solidFill>
                  <a:srgbClr val="73BF69"/>
                </a:solidFill>
                <a:latin typeface="Consolas" pitchFamily="34" charset="0"/>
                <a:ea typeface="Consolas" pitchFamily="34" charset="-122"/>
                <a:cs typeface="Consolas" pitchFamily="34" charset="-120"/>
              </a:rPr>
              <a:t>  https://otel-collector:4317
</a:t>
            </a:r>
            <a:endParaRPr lang="en-US" sz="1250" dirty="0"/>
          </a:p>
          <a:p>
            <a:pPr indent="0" marL="0">
              <a:lnSpc>
                <a:spcPct val="115000"/>
              </a:lnSpc>
              <a:buNone/>
            </a:pPr>
            <a:r>
              <a:rPr lang="en-US" sz="1250" dirty="0">
                <a:solidFill>
                  <a:srgbClr val="33C5C9"/>
                </a:solidFill>
                <a:latin typeface="Consolas" pitchFamily="34" charset="0"/>
                <a:ea typeface="Consolas" pitchFamily="34" charset="-122"/>
                <a:cs typeface="Consolas" pitchFamily="34" charset="-120"/>
              </a:rPr>
              <a:t>otel.exporter.otlp.headers=\
</a:t>
            </a:r>
            <a:endParaRPr lang="en-US" sz="1250" dirty="0"/>
          </a:p>
          <a:p>
            <a:pPr indent="0" marL="0">
              <a:lnSpc>
                <a:spcPct val="115000"/>
              </a:lnSpc>
              <a:buNone/>
            </a:pPr>
            <a:r>
              <a:rPr lang="en-US" sz="1250" dirty="0">
                <a:solidFill>
                  <a:srgbClr val="73BF69"/>
                </a:solidFill>
                <a:latin typeface="Consolas" pitchFamily="34" charset="0"/>
                <a:ea typeface="Consolas" pitchFamily="34" charset="-122"/>
                <a:cs typeface="Consolas" pitchFamily="34" charset="-120"/>
              </a:rPr>
              <a:t>  X-Scope-OrgID=my-team
</a:t>
            </a:r>
            <a:endParaRPr lang="en-US" sz="1250" dirty="0"/>
          </a:p>
          <a:p>
            <a:pPr indent="0" marL="0">
              <a:lnSpc>
                <a:spcPct val="115000"/>
              </a:lnSpc>
              <a:buNone/>
            </a:pPr>
            <a:r>
              <a:rPr lang="en-US" sz="1250" dirty="0">
                <a:solidFill>
                  <a:srgbClr val="33C5C9"/>
                </a:solidFill>
                <a:latin typeface="Consolas" pitchFamily="34" charset="0"/>
                <a:ea typeface="Consolas" pitchFamily="34" charset="-122"/>
                <a:cs typeface="Consolas" pitchFamily="34" charset="-120"/>
              </a:rPr>
              <a:t>otel.service.name=</a:t>
            </a:r>
            <a:pPr indent="0" marL="0">
              <a:lnSpc>
                <a:spcPct val="115000"/>
              </a:lnSpc>
              <a:buNone/>
            </a:pPr>
            <a:r>
              <a:rPr lang="en-US" sz="1250" dirty="0">
                <a:solidFill>
                  <a:srgbClr val="FF8A3D"/>
                </a:solidFill>
                <a:latin typeface="Consolas" pitchFamily="34" charset="0"/>
                <a:ea typeface="Consolas" pitchFamily="34" charset="-122"/>
                <a:cs typeface="Consolas" pitchFamily="34" charset="-120"/>
              </a:rPr>
              <a:t>orders-api
</a:t>
            </a:r>
            <a:endParaRPr lang="en-US" sz="1250" dirty="0"/>
          </a:p>
          <a:p>
            <a:pPr indent="0" marL="0">
              <a:lnSpc>
                <a:spcPct val="115000"/>
              </a:lnSpc>
              <a:buNone/>
            </a:pPr>
            <a:r>
              <a:rPr lang="en-US" sz="1250" dirty="0">
                <a:solidFill>
                  <a:srgbClr val="33C5C9"/>
                </a:solidFill>
                <a:latin typeface="Consolas" pitchFamily="34" charset="0"/>
                <a:ea typeface="Consolas" pitchFamily="34" charset="-122"/>
                <a:cs typeface="Consolas" pitchFamily="34" charset="-120"/>
              </a:rPr>
              <a:t>otel.resource.attributes=\
</a:t>
            </a:r>
            <a:endParaRPr lang="en-US" sz="1250" dirty="0"/>
          </a:p>
          <a:p>
            <a:pPr indent="0" marL="0">
              <a:lnSpc>
                <a:spcPct val="115000"/>
              </a:lnSpc>
              <a:buNone/>
            </a:pPr>
            <a:r>
              <a:rPr lang="en-US" sz="1250" dirty="0">
                <a:solidFill>
                  <a:srgbClr val="73BF69"/>
                </a:solidFill>
                <a:latin typeface="Consolas" pitchFamily="34" charset="0"/>
                <a:ea typeface="Consolas" pitchFamily="34" charset="-122"/>
                <a:cs typeface="Consolas" pitchFamily="34" charset="-120"/>
              </a:rPr>
              <a:t>  deployment.environment=prod</a:t>
            </a:r>
            <a:endParaRPr lang="en-US" sz="1250" dirty="0"/>
          </a:p>
        </p:txBody>
      </p:sp>
      <p:sp>
        <p:nvSpPr>
          <p:cNvPr id="20" name="Text 17"/>
          <p:cNvSpPr/>
          <p:nvPr/>
        </p:nvSpPr>
        <p:spPr>
          <a:xfrm>
            <a:off x="640080" y="5897880"/>
            <a:ext cx="10881360" cy="548640"/>
          </a:xfrm>
          <a:prstGeom prst="rect">
            <a:avLst/>
          </a:prstGeom>
          <a:noFill/>
          <a:ln/>
        </p:spPr>
        <p:txBody>
          <a:bodyPr wrap="square" lIns="0" tIns="0" rIns="0" bIns="0" rtlCol="0" anchor="ctr"/>
          <a:lstStyle/>
          <a:p>
            <a:pPr indent="0" marL="0">
              <a:buNone/>
            </a:pPr>
            <a:r>
              <a:rPr lang="en-US" sz="1350" i="1" dirty="0">
                <a:solidFill>
                  <a:srgbClr val="9BA1AE"/>
                </a:solidFill>
                <a:latin typeface="Calibri" pitchFamily="34" charset="0"/>
                <a:ea typeface="Calibri" pitchFamily="34" charset="-122"/>
                <a:cs typeface="Calibri" pitchFamily="34" charset="-120"/>
              </a:rPr>
              <a:t>X-Scope-OrgID = which tenant your data lands in.   otel.service.name = the one value you'll swap in the dashboard.</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ONBOARDING · STEP 2 OF 2</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React SPA — frontend observability with Faro</a:t>
            </a:r>
            <a:endParaRPr lang="en-US" sz="3000" dirty="0"/>
          </a:p>
        </p:txBody>
      </p:sp>
      <p:pic>
        <p:nvPicPr>
          <p:cNvPr id="4" name="Image 0" descr="preencoded.png">    </p:cNvPr>
          <p:cNvPicPr>
            <a:picLocks noChangeAspect="1"/>
          </p:cNvPicPr>
          <p:nvPr/>
        </p:nvPicPr>
        <p:blipFill>
          <a:blip r:embed="rId1"/>
          <a:stretch>
            <a:fillRect/>
          </a:stretch>
        </p:blipFill>
        <p:spPr>
          <a:xfrm>
            <a:off x="10424160" y="502920"/>
            <a:ext cx="822960" cy="822960"/>
          </a:xfrm>
          <a:prstGeom prst="rect">
            <a:avLst/>
          </a:prstGeom>
        </p:spPr>
      </p:pic>
      <p:sp>
        <p:nvSpPr>
          <p:cNvPr id="5" name="Text 2"/>
          <p:cNvSpPr/>
          <p:nvPr/>
        </p:nvSpPr>
        <p:spPr>
          <a:xfrm>
            <a:off x="640080" y="1508760"/>
            <a:ext cx="5669280" cy="914400"/>
          </a:xfrm>
          <a:prstGeom prst="rect">
            <a:avLst/>
          </a:prstGeom>
          <a:noFill/>
          <a:ln/>
        </p:spPr>
        <p:txBody>
          <a:bodyPr wrap="square" lIns="0" tIns="0" rIns="0" bIns="0" rtlCol="0" anchor="ctr"/>
          <a:lstStyle/>
          <a:p>
            <a:pPr indent="0" marL="0">
              <a:buNone/>
            </a:pPr>
            <a:r>
              <a:rPr lang="en-US" sz="1500" dirty="0">
                <a:solidFill>
                  <a:srgbClr val="9BA1AE"/>
                </a:solidFill>
                <a:latin typeface="Calibri" pitchFamily="34" charset="0"/>
                <a:ea typeface="Calibri" pitchFamily="34" charset="-122"/>
                <a:cs typeface="Calibri" pitchFamily="34" charset="-120"/>
              </a:rPr>
              <a:t>Faro is Grafana's browser SDK — the front-end counterpart to the OTel agent. It captures errors, page loads, and user-side performance.</a:t>
            </a:r>
            <a:endParaRPr lang="en-US" sz="1500" dirty="0"/>
          </a:p>
        </p:txBody>
      </p:sp>
      <p:sp>
        <p:nvSpPr>
          <p:cNvPr id="6" name="Text 3"/>
          <p:cNvSpPr/>
          <p:nvPr/>
        </p:nvSpPr>
        <p:spPr>
          <a:xfrm>
            <a:off x="640080" y="2468880"/>
            <a:ext cx="5486400" cy="1828800"/>
          </a:xfrm>
          <a:prstGeom prst="rect">
            <a:avLst/>
          </a:prstGeom>
          <a:noFill/>
          <a:ln/>
        </p:spPr>
        <p:txBody>
          <a:bodyPr wrap="square" lIns="0" tIns="0" rIns="0" bIns="0" rtlCol="0" anchor="ctr"/>
          <a:lstStyle/>
          <a:p>
            <a:pPr marL="342900" indent="-342900">
              <a:spcAft>
                <a:spcPts val="1000"/>
              </a:spcAft>
              <a:buSzPct val="100000"/>
              <a:buFont typeface="+mj-lt"/>
              <a:buAutoNum type="arabicPeriod" startAt="1"/>
            </a:pPr>
            <a:r>
              <a:rPr lang="en-US" sz="1550" dirty="0">
                <a:solidFill>
                  <a:srgbClr val="F4F5F7"/>
                </a:solidFill>
                <a:latin typeface="Calibri" pitchFamily="34" charset="0"/>
                <a:ea typeface="Calibri" pitchFamily="34" charset="-122"/>
                <a:cs typeface="Calibri" pitchFamily="34" charset="-120"/>
              </a:rPr>
              <a:t>Install the Faro web SDK in the SPA.</a:t>
            </a:r>
            <a:endParaRPr lang="en-US" sz="1550" dirty="0"/>
          </a:p>
          <a:p>
            <a:pPr marL="342900" indent="-342900">
              <a:spcAft>
                <a:spcPts val="1000"/>
              </a:spcAft>
              <a:buSzPct val="100000"/>
              <a:buFont typeface="+mj-lt"/>
              <a:buAutoNum type="arabicPeriod" startAt="1"/>
            </a:pPr>
            <a:r>
              <a:rPr lang="en-US" sz="1550" dirty="0">
                <a:solidFill>
                  <a:srgbClr val="F4F5F7"/>
                </a:solidFill>
                <a:latin typeface="Calibri" pitchFamily="34" charset="0"/>
                <a:ea typeface="Calibri" pitchFamily="34" charset="-122"/>
                <a:cs typeface="Calibri" pitchFamily="34" charset="-120"/>
              </a:rPr>
              <a:t>Initialise it once with the Faro collector URL + your org-id.</a:t>
            </a:r>
            <a:endParaRPr lang="en-US" sz="1550" dirty="0"/>
          </a:p>
          <a:p>
            <a:pPr marL="342900" indent="-342900">
              <a:spcAft>
                <a:spcPts val="1000"/>
              </a:spcAft>
              <a:buSzPct val="100000"/>
              <a:buFont typeface="+mj-lt"/>
              <a:buAutoNum type="arabicPeriod" startAt="1"/>
            </a:pPr>
            <a:r>
              <a:rPr lang="en-US" sz="1550" dirty="0">
                <a:solidFill>
                  <a:srgbClr val="F4F5F7"/>
                </a:solidFill>
                <a:latin typeface="Calibri" pitchFamily="34" charset="0"/>
                <a:ea typeface="Calibri" pitchFamily="34" charset="-122"/>
                <a:cs typeface="Calibri" pitchFamily="34" charset="-120"/>
              </a:rPr>
              <a:t>Wrap the App so errors &amp; performance flow automatically.</a:t>
            </a:r>
            <a:endParaRPr lang="en-US" sz="1550" dirty="0"/>
          </a:p>
        </p:txBody>
      </p:sp>
      <p:sp>
        <p:nvSpPr>
          <p:cNvPr id="7" name="Shape 4"/>
          <p:cNvSpPr/>
          <p:nvPr/>
        </p:nvSpPr>
        <p:spPr>
          <a:xfrm>
            <a:off x="6766560" y="1600200"/>
            <a:ext cx="4846320" cy="3566160"/>
          </a:xfrm>
          <a:prstGeom prst="rect">
            <a:avLst/>
          </a:prstGeom>
          <a:solidFill>
            <a:srgbClr val="0B0D14"/>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8" name="Text 5"/>
          <p:cNvSpPr/>
          <p:nvPr/>
        </p:nvSpPr>
        <p:spPr>
          <a:xfrm>
            <a:off x="6949440" y="1737360"/>
            <a:ext cx="4572000" cy="274320"/>
          </a:xfrm>
          <a:prstGeom prst="rect">
            <a:avLst/>
          </a:prstGeom>
          <a:noFill/>
          <a:ln/>
        </p:spPr>
        <p:txBody>
          <a:bodyPr wrap="square" lIns="0" tIns="0" rIns="0" bIns="0" rtlCol="0" anchor="ctr"/>
          <a:lstStyle/>
          <a:p>
            <a:pPr indent="0" marL="0">
              <a:buNone/>
            </a:pPr>
            <a:r>
              <a:rPr lang="en-US" sz="1100" dirty="0">
                <a:solidFill>
                  <a:srgbClr val="6E7480"/>
                </a:solidFill>
                <a:latin typeface="Consolas" pitchFamily="34" charset="0"/>
                <a:ea typeface="Consolas" pitchFamily="34" charset="-122"/>
                <a:cs typeface="Consolas" pitchFamily="34" charset="-120"/>
              </a:rPr>
              <a:t>main.tsx</a:t>
            </a:r>
            <a:endParaRPr lang="en-US" sz="1100" dirty="0"/>
          </a:p>
        </p:txBody>
      </p:sp>
      <p:sp>
        <p:nvSpPr>
          <p:cNvPr id="9" name="Text 6"/>
          <p:cNvSpPr/>
          <p:nvPr/>
        </p:nvSpPr>
        <p:spPr>
          <a:xfrm>
            <a:off x="6949440" y="2103120"/>
            <a:ext cx="4572000" cy="2926080"/>
          </a:xfrm>
          <a:prstGeom prst="rect">
            <a:avLst/>
          </a:prstGeom>
          <a:noFill/>
          <a:ln/>
        </p:spPr>
        <p:txBody>
          <a:bodyPr wrap="square" lIns="0" tIns="0" rIns="0" bIns="0" rtlCol="0" anchor="ctr"/>
          <a:lstStyle/>
          <a:p>
            <a:pPr indent="0" marL="0">
              <a:lnSpc>
                <a:spcPct val="115000"/>
              </a:lnSpc>
              <a:buNone/>
            </a:pPr>
            <a:r>
              <a:rPr lang="en-US" sz="1250" dirty="0">
                <a:solidFill>
                  <a:srgbClr val="F4F5F7"/>
                </a:solidFill>
                <a:latin typeface="Consolas" pitchFamily="34" charset="0"/>
                <a:ea typeface="Consolas" pitchFamily="34" charset="-122"/>
                <a:cs typeface="Consolas" pitchFamily="34" charset="-120"/>
              </a:rPr>
              <a:t>initializeFaro({
</a:t>
            </a:r>
            <a:endParaRPr lang="en-US" sz="1250" dirty="0"/>
          </a:p>
          <a:p>
            <a:pPr indent="0" marL="0">
              <a:lnSpc>
                <a:spcPct val="115000"/>
              </a:lnSpc>
              <a:buNone/>
            </a:pPr>
            <a:r>
              <a:rPr lang="en-US" sz="1250" dirty="0">
                <a:solidFill>
                  <a:srgbClr val="33C5C9"/>
                </a:solidFill>
                <a:latin typeface="Consolas" pitchFamily="34" charset="0"/>
                <a:ea typeface="Consolas" pitchFamily="34" charset="-122"/>
                <a:cs typeface="Consolas" pitchFamily="34" charset="-120"/>
              </a:rPr>
              <a:t>  url: </a:t>
            </a:r>
            <a:pPr indent="0" marL="0">
              <a:lnSpc>
                <a:spcPct val="115000"/>
              </a:lnSpc>
              <a:buNone/>
            </a:pPr>
            <a:r>
              <a:rPr lang="en-US" sz="1250" dirty="0">
                <a:solidFill>
                  <a:srgbClr val="73BF69"/>
                </a:solidFill>
                <a:latin typeface="Consolas" pitchFamily="34" charset="0"/>
                <a:ea typeface="Consolas" pitchFamily="34" charset="-122"/>
                <a:cs typeface="Consolas" pitchFamily="34" charset="-120"/>
              </a:rPr>
              <a:t>FARO_COLLECTOR_URL,
</a:t>
            </a:r>
            <a:endParaRPr lang="en-US" sz="1250" dirty="0"/>
          </a:p>
          <a:p>
            <a:pPr indent="0" marL="0">
              <a:lnSpc>
                <a:spcPct val="115000"/>
              </a:lnSpc>
              <a:buNone/>
            </a:pPr>
            <a:r>
              <a:rPr lang="en-US" sz="1250" dirty="0">
                <a:solidFill>
                  <a:srgbClr val="33C5C9"/>
                </a:solidFill>
                <a:latin typeface="Consolas" pitchFamily="34" charset="0"/>
                <a:ea typeface="Consolas" pitchFamily="34" charset="-122"/>
                <a:cs typeface="Consolas" pitchFamily="34" charset="-120"/>
              </a:rPr>
              <a:t>  app: { name: </a:t>
            </a:r>
            <a:pPr indent="0" marL="0">
              <a:lnSpc>
                <a:spcPct val="115000"/>
              </a:lnSpc>
              <a:buNone/>
            </a:pPr>
            <a:r>
              <a:rPr lang="en-US" sz="1250" dirty="0">
                <a:solidFill>
                  <a:srgbClr val="FF8A3D"/>
                </a:solidFill>
                <a:latin typeface="Consolas" pitchFamily="34" charset="0"/>
                <a:ea typeface="Consolas" pitchFamily="34" charset="-122"/>
                <a:cs typeface="Consolas" pitchFamily="34" charset="-120"/>
              </a:rPr>
              <a:t>'orders-web'</a:t>
            </a:r>
            <a:pPr indent="0" marL="0">
              <a:lnSpc>
                <a:spcPct val="115000"/>
              </a:lnSpc>
              <a:buNone/>
            </a:pPr>
            <a:r>
              <a:rPr lang="en-US" sz="1250" dirty="0">
                <a:solidFill>
                  <a:srgbClr val="F4F5F7"/>
                </a:solidFill>
                <a:latin typeface="Consolas" pitchFamily="34" charset="0"/>
                <a:ea typeface="Consolas" pitchFamily="34" charset="-122"/>
                <a:cs typeface="Consolas" pitchFamily="34" charset="-120"/>
              </a:rPr>
              <a:t> },
</a:t>
            </a:r>
            <a:endParaRPr lang="en-US" sz="1250" dirty="0"/>
          </a:p>
          <a:p>
            <a:pPr indent="0" marL="0">
              <a:lnSpc>
                <a:spcPct val="115000"/>
              </a:lnSpc>
              <a:buNone/>
            </a:pPr>
            <a:r>
              <a:rPr lang="en-US" sz="1250" dirty="0">
                <a:solidFill>
                  <a:srgbClr val="6E7480"/>
                </a:solidFill>
                <a:latin typeface="Consolas" pitchFamily="34" charset="0"/>
                <a:ea typeface="Consolas" pitchFamily="34" charset="-122"/>
                <a:cs typeface="Consolas" pitchFamily="34" charset="-120"/>
              </a:rPr>
              <a:t>  // X-Scope-OrgID via headers
</a:t>
            </a:r>
            <a:endParaRPr lang="en-US" sz="1250" dirty="0"/>
          </a:p>
          <a:p>
            <a:pPr indent="0" marL="0">
              <a:lnSpc>
                <a:spcPct val="115000"/>
              </a:lnSpc>
              <a:buNone/>
            </a:pPr>
            <a:r>
              <a:rPr lang="en-US" sz="1250" dirty="0">
                <a:solidFill>
                  <a:srgbClr val="F4F5F7"/>
                </a:solidFill>
                <a:latin typeface="Consolas" pitchFamily="34" charset="0"/>
                <a:ea typeface="Consolas" pitchFamily="34" charset="-122"/>
                <a:cs typeface="Consolas" pitchFamily="34" charset="-120"/>
              </a:rPr>
              <a:t>});
</a:t>
            </a:r>
            <a:endParaRPr lang="en-US" sz="1250" dirty="0"/>
          </a:p>
          <a:p>
            <a:pPr indent="0" marL="0">
              <a:lnSpc>
                <a:spcPct val="115000"/>
              </a:lnSpc>
              <a:buNone/>
            </a:pPr>
            <a:r>
              <a:rPr lang="en-US" sz="1250" dirty="0">
                <a:solidFill>
                  <a:srgbClr val="5BA4F4"/>
                </a:solidFill>
                <a:latin typeface="Consolas" pitchFamily="34" charset="0"/>
                <a:ea typeface="Consolas" pitchFamily="34" charset="-122"/>
                <a:cs typeface="Consolas" pitchFamily="34" charset="-120"/>
              </a:rPr>
              <a:t>&lt;FaroErrorBoundary&gt;
</a:t>
            </a:r>
            <a:endParaRPr lang="en-US" sz="1250" dirty="0"/>
          </a:p>
          <a:p>
            <a:pPr indent="0" marL="0">
              <a:lnSpc>
                <a:spcPct val="115000"/>
              </a:lnSpc>
              <a:buNone/>
            </a:pPr>
            <a:r>
              <a:rPr lang="en-US" sz="1250" dirty="0">
                <a:solidFill>
                  <a:srgbClr val="F4F5F7"/>
                </a:solidFill>
                <a:latin typeface="Consolas" pitchFamily="34" charset="0"/>
                <a:ea typeface="Consolas" pitchFamily="34" charset="-122"/>
                <a:cs typeface="Consolas" pitchFamily="34" charset="-120"/>
              </a:rPr>
              <a:t>  &lt;App /&gt;
</a:t>
            </a:r>
            <a:endParaRPr lang="en-US" sz="1250" dirty="0"/>
          </a:p>
          <a:p>
            <a:pPr indent="0" marL="0">
              <a:lnSpc>
                <a:spcPct val="115000"/>
              </a:lnSpc>
              <a:buNone/>
            </a:pPr>
            <a:r>
              <a:rPr lang="en-US" sz="1250" dirty="0">
                <a:solidFill>
                  <a:srgbClr val="5BA4F4"/>
                </a:solidFill>
                <a:latin typeface="Consolas" pitchFamily="34" charset="0"/>
                <a:ea typeface="Consolas" pitchFamily="34" charset="-122"/>
                <a:cs typeface="Consolas" pitchFamily="34" charset="-120"/>
              </a:rPr>
              <a:t>&lt;/FaroErrorBoundary&gt;</a:t>
            </a:r>
            <a:endParaRPr lang="en-US" sz="1250" dirty="0"/>
          </a:p>
        </p:txBody>
      </p:sp>
      <p:sp>
        <p:nvSpPr>
          <p:cNvPr id="10" name="Text 7"/>
          <p:cNvSpPr/>
          <p:nvPr/>
        </p:nvSpPr>
        <p:spPr>
          <a:xfrm>
            <a:off x="640080" y="5394960"/>
            <a:ext cx="10881360" cy="640080"/>
          </a:xfrm>
          <a:prstGeom prst="rect">
            <a:avLst/>
          </a:prstGeom>
          <a:noFill/>
          <a:ln/>
        </p:spPr>
        <p:txBody>
          <a:bodyPr wrap="square" lIns="0" tIns="0" rIns="0" bIns="0" rtlCol="0" anchor="ctr"/>
          <a:lstStyle/>
          <a:p>
            <a:pPr indent="0" marL="0">
              <a:buNone/>
            </a:pPr>
            <a:r>
              <a:rPr lang="en-US" sz="1350" i="1" dirty="0">
                <a:solidFill>
                  <a:srgbClr val="9BA1AE"/>
                </a:solidFill>
                <a:latin typeface="Calibri" pitchFamily="34" charset="0"/>
                <a:ea typeface="Calibri" pitchFamily="34" charset="-122"/>
                <a:cs typeface="Calibri" pitchFamily="34" charset="-120"/>
              </a:rPr>
              <a:t>Same idea as the backend: configure an endpoint + org-id, name your app, wrap once. Now you see the user's browser, not just the server.</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THE SHORTCUT</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One dashboard, every team</a:t>
            </a:r>
            <a:endParaRPr lang="en-US" sz="3000" dirty="0"/>
          </a:p>
        </p:txBody>
      </p:sp>
      <p:pic>
        <p:nvPicPr>
          <p:cNvPr id="4" name="Image 0" descr="preencoded.png">    </p:cNvPr>
          <p:cNvPicPr>
            <a:picLocks noChangeAspect="1"/>
          </p:cNvPicPr>
          <p:nvPr/>
        </p:nvPicPr>
        <p:blipFill>
          <a:blip r:embed="rId1"/>
          <a:stretch>
            <a:fillRect/>
          </a:stretch>
        </p:blipFill>
        <p:spPr>
          <a:xfrm>
            <a:off x="640080" y="1691640"/>
            <a:ext cx="640080" cy="640080"/>
          </a:xfrm>
          <a:prstGeom prst="rect">
            <a:avLst/>
          </a:prstGeom>
        </p:spPr>
      </p:pic>
      <p:sp>
        <p:nvSpPr>
          <p:cNvPr id="5" name="Text 2"/>
          <p:cNvSpPr/>
          <p:nvPr/>
        </p:nvSpPr>
        <p:spPr>
          <a:xfrm>
            <a:off x="1508760" y="1691640"/>
            <a:ext cx="10058400" cy="640080"/>
          </a:xfrm>
          <a:prstGeom prst="rect">
            <a:avLst/>
          </a:prstGeom>
          <a:noFill/>
          <a:ln/>
        </p:spPr>
        <p:txBody>
          <a:bodyPr wrap="square" lIns="0" tIns="0" rIns="0" bIns="0" rtlCol="0" anchor="ctr"/>
          <a:lstStyle/>
          <a:p>
            <a:pPr indent="0" marL="0">
              <a:buNone/>
            </a:pPr>
            <a:r>
              <a:rPr lang="en-US" sz="2200" b="1" dirty="0">
                <a:solidFill>
                  <a:srgbClr val="F4F5F7"/>
                </a:solidFill>
                <a:latin typeface="Trebuchet MS" pitchFamily="34" charset="0"/>
                <a:ea typeface="Trebuchet MS" pitchFamily="34" charset="-122"/>
                <a:cs typeface="Trebuchet MS" pitchFamily="34" charset="-120"/>
              </a:rPr>
              <a:t>I built a standard dashboard. You don't build one — you clone it.</a:t>
            </a:r>
            <a:endParaRPr lang="en-US" sz="2200" dirty="0"/>
          </a:p>
        </p:txBody>
      </p:sp>
      <p:sp>
        <p:nvSpPr>
          <p:cNvPr id="6" name="Shape 3"/>
          <p:cNvSpPr/>
          <p:nvPr/>
        </p:nvSpPr>
        <p:spPr>
          <a:xfrm>
            <a:off x="640080" y="2697480"/>
            <a:ext cx="3429000" cy="182880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7" name="Text 4"/>
          <p:cNvSpPr/>
          <p:nvPr/>
        </p:nvSpPr>
        <p:spPr>
          <a:xfrm>
            <a:off x="914400" y="2926080"/>
            <a:ext cx="2926080" cy="457200"/>
          </a:xfrm>
          <a:prstGeom prst="rect">
            <a:avLst/>
          </a:prstGeom>
          <a:noFill/>
          <a:ln/>
        </p:spPr>
        <p:txBody>
          <a:bodyPr wrap="square" lIns="0" tIns="0" rIns="0" bIns="0" rtlCol="0" anchor="ctr"/>
          <a:lstStyle/>
          <a:p>
            <a:pPr indent="0" marL="0">
              <a:buNone/>
            </a:pPr>
            <a:r>
              <a:rPr lang="en-US" sz="2200" b="1" dirty="0">
                <a:solidFill>
                  <a:srgbClr val="F46800"/>
                </a:solidFill>
                <a:latin typeface="Trebuchet MS" pitchFamily="34" charset="0"/>
                <a:ea typeface="Trebuchet MS" pitchFamily="34" charset="-122"/>
                <a:cs typeface="Trebuchet MS" pitchFamily="34" charset="-120"/>
              </a:rPr>
              <a:t>Copy</a:t>
            </a:r>
            <a:endParaRPr lang="en-US" sz="2200" dirty="0"/>
          </a:p>
        </p:txBody>
      </p:sp>
      <p:sp>
        <p:nvSpPr>
          <p:cNvPr id="8" name="Text 5"/>
          <p:cNvSpPr/>
          <p:nvPr/>
        </p:nvSpPr>
        <p:spPr>
          <a:xfrm>
            <a:off x="914400" y="3456432"/>
            <a:ext cx="2926080" cy="914400"/>
          </a:xfrm>
          <a:prstGeom prst="rect">
            <a:avLst/>
          </a:prstGeom>
          <a:noFill/>
          <a:ln/>
        </p:spPr>
        <p:txBody>
          <a:bodyPr wrap="square" lIns="0" tIns="0" rIns="0" bIns="0" rtlCol="0" anchor="ctr"/>
          <a:lstStyle/>
          <a:p>
            <a:pPr indent="0" marL="0">
              <a:buNone/>
            </a:pPr>
            <a:r>
              <a:rPr lang="en-US" sz="1400" dirty="0">
                <a:solidFill>
                  <a:srgbClr val="9BA1AE"/>
                </a:solidFill>
                <a:latin typeface="Calibri" pitchFamily="34" charset="0"/>
                <a:ea typeface="Calibri" pitchFamily="34" charset="-122"/>
                <a:cs typeface="Calibri" pitchFamily="34" charset="-120"/>
              </a:rPr>
              <a:t>Duplicate the standard dashboard JSON.</a:t>
            </a:r>
            <a:endParaRPr lang="en-US" sz="1400" dirty="0"/>
          </a:p>
        </p:txBody>
      </p:sp>
      <p:sp>
        <p:nvSpPr>
          <p:cNvPr id="9" name="Shape 6"/>
          <p:cNvSpPr/>
          <p:nvPr/>
        </p:nvSpPr>
        <p:spPr>
          <a:xfrm>
            <a:off x="4297680" y="2697480"/>
            <a:ext cx="3429000" cy="182880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10" name="Text 7"/>
          <p:cNvSpPr/>
          <p:nvPr/>
        </p:nvSpPr>
        <p:spPr>
          <a:xfrm>
            <a:off x="4572000" y="2926080"/>
            <a:ext cx="2926080" cy="457200"/>
          </a:xfrm>
          <a:prstGeom prst="rect">
            <a:avLst/>
          </a:prstGeom>
          <a:noFill/>
          <a:ln/>
        </p:spPr>
        <p:txBody>
          <a:bodyPr wrap="square" lIns="0" tIns="0" rIns="0" bIns="0" rtlCol="0" anchor="ctr"/>
          <a:lstStyle/>
          <a:p>
            <a:pPr indent="0" marL="0">
              <a:buNone/>
            </a:pPr>
            <a:r>
              <a:rPr lang="en-US" sz="2200" b="1" dirty="0">
                <a:solidFill>
                  <a:srgbClr val="F46800"/>
                </a:solidFill>
                <a:latin typeface="Trebuchet MS" pitchFamily="34" charset="0"/>
                <a:ea typeface="Trebuchet MS" pitchFamily="34" charset="-122"/>
                <a:cs typeface="Trebuchet MS" pitchFamily="34" charset="-120"/>
              </a:rPr>
              <a:t>Swap</a:t>
            </a:r>
            <a:endParaRPr lang="en-US" sz="2200" dirty="0"/>
          </a:p>
        </p:txBody>
      </p:sp>
      <p:sp>
        <p:nvSpPr>
          <p:cNvPr id="11" name="Text 8"/>
          <p:cNvSpPr/>
          <p:nvPr/>
        </p:nvSpPr>
        <p:spPr>
          <a:xfrm>
            <a:off x="4572000" y="3456432"/>
            <a:ext cx="2926080" cy="914400"/>
          </a:xfrm>
          <a:prstGeom prst="rect">
            <a:avLst/>
          </a:prstGeom>
          <a:noFill/>
          <a:ln/>
        </p:spPr>
        <p:txBody>
          <a:bodyPr wrap="square" lIns="0" tIns="0" rIns="0" bIns="0" rtlCol="0" anchor="ctr"/>
          <a:lstStyle/>
          <a:p>
            <a:pPr indent="0" marL="0">
              <a:buNone/>
            </a:pPr>
            <a:r>
              <a:rPr lang="en-US" sz="1400" dirty="0">
                <a:solidFill>
                  <a:srgbClr val="9BA1AE"/>
                </a:solidFill>
                <a:latin typeface="Calibri" pitchFamily="34" charset="0"/>
                <a:ea typeface="Calibri" pitchFamily="34" charset="-122"/>
                <a:cs typeface="Calibri" pitchFamily="34" charset="-120"/>
              </a:rPr>
              <a:t>Replace service_name with yours — one variable.</a:t>
            </a:r>
            <a:endParaRPr lang="en-US" sz="1400" dirty="0"/>
          </a:p>
        </p:txBody>
      </p:sp>
      <p:sp>
        <p:nvSpPr>
          <p:cNvPr id="12" name="Shape 9"/>
          <p:cNvSpPr/>
          <p:nvPr/>
        </p:nvSpPr>
        <p:spPr>
          <a:xfrm>
            <a:off x="7955280" y="2697480"/>
            <a:ext cx="3429000" cy="182880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13" name="Text 10"/>
          <p:cNvSpPr/>
          <p:nvPr/>
        </p:nvSpPr>
        <p:spPr>
          <a:xfrm>
            <a:off x="8229600" y="2926080"/>
            <a:ext cx="2926080" cy="457200"/>
          </a:xfrm>
          <a:prstGeom prst="rect">
            <a:avLst/>
          </a:prstGeom>
          <a:noFill/>
          <a:ln/>
        </p:spPr>
        <p:txBody>
          <a:bodyPr wrap="square" lIns="0" tIns="0" rIns="0" bIns="0" rtlCol="0" anchor="ctr"/>
          <a:lstStyle/>
          <a:p>
            <a:pPr indent="0" marL="0">
              <a:buNone/>
            </a:pPr>
            <a:r>
              <a:rPr lang="en-US" sz="2200" b="1" dirty="0">
                <a:solidFill>
                  <a:srgbClr val="F46800"/>
                </a:solidFill>
                <a:latin typeface="Trebuchet MS" pitchFamily="34" charset="0"/>
                <a:ea typeface="Trebuchet MS" pitchFamily="34" charset="-122"/>
                <a:cs typeface="Trebuchet MS" pitchFamily="34" charset="-120"/>
              </a:rPr>
              <a:t>Monitor</a:t>
            </a:r>
            <a:endParaRPr lang="en-US" sz="2200" dirty="0"/>
          </a:p>
        </p:txBody>
      </p:sp>
      <p:sp>
        <p:nvSpPr>
          <p:cNvPr id="14" name="Text 11"/>
          <p:cNvSpPr/>
          <p:nvPr/>
        </p:nvSpPr>
        <p:spPr>
          <a:xfrm>
            <a:off x="8229600" y="3456432"/>
            <a:ext cx="2926080" cy="914400"/>
          </a:xfrm>
          <a:prstGeom prst="rect">
            <a:avLst/>
          </a:prstGeom>
          <a:noFill/>
          <a:ln/>
        </p:spPr>
        <p:txBody>
          <a:bodyPr wrap="square" lIns="0" tIns="0" rIns="0" bIns="0" rtlCol="0" anchor="ctr"/>
          <a:lstStyle/>
          <a:p>
            <a:pPr indent="0" marL="0">
              <a:buNone/>
            </a:pPr>
            <a:r>
              <a:rPr lang="en-US" sz="1400" dirty="0">
                <a:solidFill>
                  <a:srgbClr val="9BA1AE"/>
                </a:solidFill>
                <a:latin typeface="Calibri" pitchFamily="34" charset="0"/>
                <a:ea typeface="Calibri" pitchFamily="34" charset="-122"/>
                <a:cs typeface="Calibri" pitchFamily="34" charset="-120"/>
              </a:rPr>
              <a:t>Latency, error rate &amp; throughput appear instantly.</a:t>
            </a:r>
            <a:endParaRPr lang="en-US" sz="1400" dirty="0"/>
          </a:p>
        </p:txBody>
      </p:sp>
      <p:sp>
        <p:nvSpPr>
          <p:cNvPr id="15" name="Shape 12"/>
          <p:cNvSpPr/>
          <p:nvPr/>
        </p:nvSpPr>
        <p:spPr>
          <a:xfrm>
            <a:off x="640080" y="4892040"/>
            <a:ext cx="10881360" cy="1005840"/>
          </a:xfrm>
          <a:prstGeom prst="rect">
            <a:avLst/>
          </a:prstGeom>
          <a:solidFill>
            <a:srgbClr val="1B1F2B"/>
          </a:solidFill>
          <a:ln w="15875">
            <a:solidFill>
              <a:srgbClr val="73BF69"/>
            </a:solidFill>
            <a:prstDash val="solid"/>
          </a:ln>
        </p:spPr>
      </p:sp>
      <p:sp>
        <p:nvSpPr>
          <p:cNvPr id="16" name="Text 13"/>
          <p:cNvSpPr/>
          <p:nvPr/>
        </p:nvSpPr>
        <p:spPr>
          <a:xfrm>
            <a:off x="960120" y="5029200"/>
            <a:ext cx="10241280" cy="731520"/>
          </a:xfrm>
          <a:prstGeom prst="rect">
            <a:avLst/>
          </a:prstGeom>
          <a:noFill/>
          <a:ln/>
        </p:spPr>
        <p:txBody>
          <a:bodyPr wrap="square" lIns="0" tIns="0" rIns="0" bIns="0" rtlCol="0" anchor="ctr"/>
          <a:lstStyle/>
          <a:p>
            <a:pPr indent="0" marL="0">
              <a:buNone/>
            </a:pPr>
            <a:r>
              <a:rPr lang="en-US" sz="1500" b="1" dirty="0">
                <a:solidFill>
                  <a:srgbClr val="F4F5F7"/>
                </a:solidFill>
                <a:latin typeface="Calibri" pitchFamily="34" charset="0"/>
                <a:ea typeface="Calibri" pitchFamily="34" charset="-122"/>
                <a:cs typeface="Calibri" pitchFamily="34" charset="-120"/>
              </a:rPr>
              <a:t>Built on the RED method  —  </a:t>
            </a:r>
            <a:pPr indent="0" marL="0">
              <a:buNone/>
            </a:pPr>
            <a:r>
              <a:rPr lang="en-US" sz="1500" b="1" dirty="0">
                <a:solidFill>
                  <a:srgbClr val="73BF69"/>
                </a:solidFill>
                <a:latin typeface="Calibri" pitchFamily="34" charset="0"/>
                <a:ea typeface="Calibri" pitchFamily="34" charset="-122"/>
                <a:cs typeface="Calibri" pitchFamily="34" charset="-120"/>
              </a:rPr>
              <a:t>Rate, Errors, Duration. </a:t>
            </a:r>
            <a:pPr indent="0" marL="0">
              <a:buNone/>
            </a:pPr>
            <a:r>
              <a:rPr lang="en-US" sz="1500" dirty="0">
                <a:solidFill>
                  <a:srgbClr val="9BA1AE"/>
                </a:solidFill>
                <a:latin typeface="Calibri" pitchFamily="34" charset="0"/>
                <a:ea typeface="Calibri" pitchFamily="34" charset="-122"/>
                <a:cs typeface="Calibri" pitchFamily="34" charset="-120"/>
              </a:rPr>
              <a:t>The three questions every service owner asks first, answered the moment you connect.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CLOSING THE LOOP</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Alerts that open their own tickets</a:t>
            </a:r>
            <a:endParaRPr lang="en-US" sz="3000" dirty="0"/>
          </a:p>
        </p:txBody>
      </p:sp>
      <p:pic>
        <p:nvPicPr>
          <p:cNvPr id="4" name="Image 0" descr="preencoded.png">    </p:cNvPr>
          <p:cNvPicPr>
            <a:picLocks noChangeAspect="1"/>
          </p:cNvPicPr>
          <p:nvPr/>
        </p:nvPicPr>
        <p:blipFill>
          <a:blip r:embed="rId1"/>
          <a:stretch>
            <a:fillRect/>
          </a:stretch>
        </p:blipFill>
        <p:spPr>
          <a:xfrm>
            <a:off x="10424160" y="502920"/>
            <a:ext cx="777240" cy="777240"/>
          </a:xfrm>
          <a:prstGeom prst="rect">
            <a:avLst/>
          </a:prstGeom>
        </p:spPr>
      </p:pic>
      <p:sp>
        <p:nvSpPr>
          <p:cNvPr id="5" name="Shape 2"/>
          <p:cNvSpPr/>
          <p:nvPr/>
        </p:nvSpPr>
        <p:spPr>
          <a:xfrm>
            <a:off x="640080" y="2194560"/>
            <a:ext cx="2468880" cy="1371600"/>
          </a:xfrm>
          <a:prstGeom prst="rect">
            <a:avLst/>
          </a:prstGeom>
          <a:solidFill>
            <a:srgbClr val="1B1F2B"/>
          </a:solidFill>
          <a:ln w="19050">
            <a:solidFill>
              <a:srgbClr val="F46800"/>
            </a:solidFill>
            <a:prstDash val="solid"/>
          </a:ln>
          <a:effectLst>
            <a:outerShdw sx="100000" sy="100000" kx="0" ky="0" algn="bl" rotWithShape="0" blurRad="114300" dist="38100" dir="8100000">
              <a:srgbClr val="000000">
                <a:alpha val="35000"/>
              </a:srgbClr>
            </a:outerShdw>
          </a:effectLst>
        </p:spPr>
      </p:sp>
      <p:sp>
        <p:nvSpPr>
          <p:cNvPr id="6" name="Text 3"/>
          <p:cNvSpPr/>
          <p:nvPr/>
        </p:nvSpPr>
        <p:spPr>
          <a:xfrm>
            <a:off x="731520" y="2468880"/>
            <a:ext cx="2286000" cy="457200"/>
          </a:xfrm>
          <a:prstGeom prst="rect">
            <a:avLst/>
          </a:prstGeom>
          <a:noFill/>
          <a:ln/>
        </p:spPr>
        <p:txBody>
          <a:bodyPr wrap="square" lIns="0" tIns="0" rIns="0" bIns="0" rtlCol="0" anchor="ctr"/>
          <a:lstStyle/>
          <a:p>
            <a:pPr algn="ctr" indent="0" marL="0">
              <a:buNone/>
            </a:pPr>
            <a:r>
              <a:rPr lang="en-US" sz="1700" b="1" dirty="0">
                <a:solidFill>
                  <a:srgbClr val="F4F5F7"/>
                </a:solidFill>
                <a:latin typeface="Trebuchet MS" pitchFamily="34" charset="0"/>
                <a:ea typeface="Trebuchet MS" pitchFamily="34" charset="-122"/>
                <a:cs typeface="Trebuchet MS" pitchFamily="34" charset="-120"/>
              </a:rPr>
              <a:t>Grafana alert</a:t>
            </a:r>
            <a:endParaRPr lang="en-US" sz="1700" dirty="0"/>
          </a:p>
        </p:txBody>
      </p:sp>
      <p:sp>
        <p:nvSpPr>
          <p:cNvPr id="7" name="Text 4"/>
          <p:cNvSpPr/>
          <p:nvPr/>
        </p:nvSpPr>
        <p:spPr>
          <a:xfrm>
            <a:off x="731520" y="2944368"/>
            <a:ext cx="2286000" cy="502920"/>
          </a:xfrm>
          <a:prstGeom prst="rect">
            <a:avLst/>
          </a:prstGeom>
          <a:noFill/>
          <a:ln/>
        </p:spPr>
        <p:txBody>
          <a:bodyPr wrap="square" lIns="0" tIns="0" rIns="0" bIns="0" rtlCol="0" anchor="ctr"/>
          <a:lstStyle/>
          <a:p>
            <a:pPr algn="ctr" indent="0" marL="0">
              <a:buNone/>
            </a:pPr>
            <a:r>
              <a:rPr lang="en-US" sz="1150" dirty="0">
                <a:solidFill>
                  <a:srgbClr val="9BA1AE"/>
                </a:solidFill>
                <a:latin typeface="Calibri" pitchFamily="34" charset="0"/>
                <a:ea typeface="Calibri" pitchFamily="34" charset="-122"/>
                <a:cs typeface="Calibri" pitchFamily="34" charset="-120"/>
              </a:rPr>
              <a:t>rule on a metric/log</a:t>
            </a:r>
            <a:endParaRPr lang="en-US" sz="1150" dirty="0"/>
          </a:p>
        </p:txBody>
      </p:sp>
      <p:sp>
        <p:nvSpPr>
          <p:cNvPr id="8" name="Shape 5"/>
          <p:cNvSpPr/>
          <p:nvPr/>
        </p:nvSpPr>
        <p:spPr>
          <a:xfrm>
            <a:off x="3429000" y="2194560"/>
            <a:ext cx="2468880" cy="1371600"/>
          </a:xfrm>
          <a:prstGeom prst="rect">
            <a:avLst/>
          </a:prstGeom>
          <a:solidFill>
            <a:srgbClr val="1B1F2B"/>
          </a:solidFill>
          <a:ln w="19050">
            <a:solidFill>
              <a:srgbClr val="33C5C9"/>
            </a:solidFill>
            <a:prstDash val="solid"/>
          </a:ln>
          <a:effectLst>
            <a:outerShdw sx="100000" sy="100000" kx="0" ky="0" algn="bl" rotWithShape="0" blurRad="114300" dist="38100" dir="8100000">
              <a:srgbClr val="000000">
                <a:alpha val="35000"/>
              </a:srgbClr>
            </a:outerShdw>
          </a:effectLst>
        </p:spPr>
      </p:sp>
      <p:sp>
        <p:nvSpPr>
          <p:cNvPr id="9" name="Text 6"/>
          <p:cNvSpPr/>
          <p:nvPr/>
        </p:nvSpPr>
        <p:spPr>
          <a:xfrm>
            <a:off x="3520440" y="2468880"/>
            <a:ext cx="2286000" cy="457200"/>
          </a:xfrm>
          <a:prstGeom prst="rect">
            <a:avLst/>
          </a:prstGeom>
          <a:noFill/>
          <a:ln/>
        </p:spPr>
        <p:txBody>
          <a:bodyPr wrap="square" lIns="0" tIns="0" rIns="0" bIns="0" rtlCol="0" anchor="ctr"/>
          <a:lstStyle/>
          <a:p>
            <a:pPr algn="ctr" indent="0" marL="0">
              <a:buNone/>
            </a:pPr>
            <a:r>
              <a:rPr lang="en-US" sz="1700" b="1" dirty="0">
                <a:solidFill>
                  <a:srgbClr val="F4F5F7"/>
                </a:solidFill>
                <a:latin typeface="Trebuchet MS" pitchFamily="34" charset="0"/>
                <a:ea typeface="Trebuchet MS" pitchFamily="34" charset="-122"/>
                <a:cs typeface="Trebuchet MS" pitchFamily="34" charset="-120"/>
              </a:rPr>
              <a:t>BigPanda</a:t>
            </a:r>
            <a:endParaRPr lang="en-US" sz="1700" dirty="0"/>
          </a:p>
        </p:txBody>
      </p:sp>
      <p:sp>
        <p:nvSpPr>
          <p:cNvPr id="10" name="Text 7"/>
          <p:cNvSpPr/>
          <p:nvPr/>
        </p:nvSpPr>
        <p:spPr>
          <a:xfrm>
            <a:off x="3520440" y="2944368"/>
            <a:ext cx="2286000" cy="502920"/>
          </a:xfrm>
          <a:prstGeom prst="rect">
            <a:avLst/>
          </a:prstGeom>
          <a:noFill/>
          <a:ln/>
        </p:spPr>
        <p:txBody>
          <a:bodyPr wrap="square" lIns="0" tIns="0" rIns="0" bIns="0" rtlCol="0" anchor="ctr"/>
          <a:lstStyle/>
          <a:p>
            <a:pPr algn="ctr" indent="0" marL="0">
              <a:buNone/>
            </a:pPr>
            <a:r>
              <a:rPr lang="en-US" sz="1150" dirty="0">
                <a:solidFill>
                  <a:srgbClr val="9BA1AE"/>
                </a:solidFill>
                <a:latin typeface="Calibri" pitchFamily="34" charset="0"/>
                <a:ea typeface="Calibri" pitchFamily="34" charset="-122"/>
                <a:cs typeface="Calibri" pitchFamily="34" charset="-120"/>
              </a:rPr>
              <a:t>correlates &amp; dedupes</a:t>
            </a:r>
            <a:endParaRPr lang="en-US" sz="1150" dirty="0"/>
          </a:p>
        </p:txBody>
      </p:sp>
      <p:sp>
        <p:nvSpPr>
          <p:cNvPr id="11" name="Shape 8"/>
          <p:cNvSpPr/>
          <p:nvPr/>
        </p:nvSpPr>
        <p:spPr>
          <a:xfrm>
            <a:off x="6217920" y="2194560"/>
            <a:ext cx="2468880" cy="1371600"/>
          </a:xfrm>
          <a:prstGeom prst="rect">
            <a:avLst/>
          </a:prstGeom>
          <a:solidFill>
            <a:srgbClr val="1B1F2B"/>
          </a:solidFill>
          <a:ln w="19050">
            <a:solidFill>
              <a:srgbClr val="5BA4F4"/>
            </a:solidFill>
            <a:prstDash val="solid"/>
          </a:ln>
          <a:effectLst>
            <a:outerShdw sx="100000" sy="100000" kx="0" ky="0" algn="bl" rotWithShape="0" blurRad="114300" dist="38100" dir="8100000">
              <a:srgbClr val="000000">
                <a:alpha val="35000"/>
              </a:srgbClr>
            </a:outerShdw>
          </a:effectLst>
        </p:spPr>
      </p:sp>
      <p:sp>
        <p:nvSpPr>
          <p:cNvPr id="12" name="Text 9"/>
          <p:cNvSpPr/>
          <p:nvPr/>
        </p:nvSpPr>
        <p:spPr>
          <a:xfrm>
            <a:off x="6309360" y="2468880"/>
            <a:ext cx="2286000" cy="457200"/>
          </a:xfrm>
          <a:prstGeom prst="rect">
            <a:avLst/>
          </a:prstGeom>
          <a:noFill/>
          <a:ln/>
        </p:spPr>
        <p:txBody>
          <a:bodyPr wrap="square" lIns="0" tIns="0" rIns="0" bIns="0" rtlCol="0" anchor="ctr"/>
          <a:lstStyle/>
          <a:p>
            <a:pPr algn="ctr" indent="0" marL="0">
              <a:buNone/>
            </a:pPr>
            <a:r>
              <a:rPr lang="en-US" sz="1700" b="1" dirty="0">
                <a:solidFill>
                  <a:srgbClr val="F4F5F7"/>
                </a:solidFill>
                <a:latin typeface="Trebuchet MS" pitchFamily="34" charset="0"/>
                <a:ea typeface="Trebuchet MS" pitchFamily="34" charset="-122"/>
                <a:cs typeface="Trebuchet MS" pitchFamily="34" charset="-120"/>
              </a:rPr>
              <a:t>ServiceNow</a:t>
            </a:r>
            <a:endParaRPr lang="en-US" sz="1700" dirty="0"/>
          </a:p>
        </p:txBody>
      </p:sp>
      <p:sp>
        <p:nvSpPr>
          <p:cNvPr id="13" name="Text 10"/>
          <p:cNvSpPr/>
          <p:nvPr/>
        </p:nvSpPr>
        <p:spPr>
          <a:xfrm>
            <a:off x="6309360" y="2944368"/>
            <a:ext cx="2286000" cy="502920"/>
          </a:xfrm>
          <a:prstGeom prst="rect">
            <a:avLst/>
          </a:prstGeom>
          <a:noFill/>
          <a:ln/>
        </p:spPr>
        <p:txBody>
          <a:bodyPr wrap="square" lIns="0" tIns="0" rIns="0" bIns="0" rtlCol="0" anchor="ctr"/>
          <a:lstStyle/>
          <a:p>
            <a:pPr algn="ctr" indent="0" marL="0">
              <a:buNone/>
            </a:pPr>
            <a:r>
              <a:rPr lang="en-US" sz="1150" dirty="0">
                <a:solidFill>
                  <a:srgbClr val="9BA1AE"/>
                </a:solidFill>
                <a:latin typeface="Calibri" pitchFamily="34" charset="0"/>
                <a:ea typeface="Calibri" pitchFamily="34" charset="-122"/>
                <a:cs typeface="Calibri" pitchFamily="34" charset="-120"/>
              </a:rPr>
              <a:t>auto-creates ticket</a:t>
            </a:r>
            <a:endParaRPr lang="en-US" sz="1150" dirty="0"/>
          </a:p>
        </p:txBody>
      </p:sp>
      <p:sp>
        <p:nvSpPr>
          <p:cNvPr id="14" name="Shape 11"/>
          <p:cNvSpPr/>
          <p:nvPr/>
        </p:nvSpPr>
        <p:spPr>
          <a:xfrm>
            <a:off x="9006840" y="2194560"/>
            <a:ext cx="2606040" cy="1371600"/>
          </a:xfrm>
          <a:prstGeom prst="rect">
            <a:avLst/>
          </a:prstGeom>
          <a:solidFill>
            <a:srgbClr val="1B1F2B"/>
          </a:solidFill>
          <a:ln w="19050">
            <a:solidFill>
              <a:srgbClr val="73BF69"/>
            </a:solidFill>
            <a:prstDash val="solid"/>
          </a:ln>
          <a:effectLst>
            <a:outerShdw sx="100000" sy="100000" kx="0" ky="0" algn="bl" rotWithShape="0" blurRad="114300" dist="38100" dir="8100000">
              <a:srgbClr val="000000">
                <a:alpha val="35000"/>
              </a:srgbClr>
            </a:outerShdw>
          </a:effectLst>
        </p:spPr>
      </p:sp>
      <p:sp>
        <p:nvSpPr>
          <p:cNvPr id="15" name="Text 12"/>
          <p:cNvSpPr/>
          <p:nvPr/>
        </p:nvSpPr>
        <p:spPr>
          <a:xfrm>
            <a:off x="9098280" y="2468880"/>
            <a:ext cx="2423160" cy="457200"/>
          </a:xfrm>
          <a:prstGeom prst="rect">
            <a:avLst/>
          </a:prstGeom>
          <a:noFill/>
          <a:ln/>
        </p:spPr>
        <p:txBody>
          <a:bodyPr wrap="square" lIns="0" tIns="0" rIns="0" bIns="0" rtlCol="0" anchor="ctr"/>
          <a:lstStyle/>
          <a:p>
            <a:pPr algn="ctr" indent="0" marL="0">
              <a:buNone/>
            </a:pPr>
            <a:r>
              <a:rPr lang="en-US" sz="1700" b="1" dirty="0">
                <a:solidFill>
                  <a:srgbClr val="F4F5F7"/>
                </a:solidFill>
                <a:latin typeface="Trebuchet MS" pitchFamily="34" charset="0"/>
                <a:ea typeface="Trebuchet MS" pitchFamily="34" charset="-122"/>
                <a:cs typeface="Trebuchet MS" pitchFamily="34" charset="-120"/>
              </a:rPr>
              <a:t>On-call team</a:t>
            </a:r>
            <a:endParaRPr lang="en-US" sz="1700" dirty="0"/>
          </a:p>
        </p:txBody>
      </p:sp>
      <p:sp>
        <p:nvSpPr>
          <p:cNvPr id="16" name="Text 13"/>
          <p:cNvSpPr/>
          <p:nvPr/>
        </p:nvSpPr>
        <p:spPr>
          <a:xfrm>
            <a:off x="9098280" y="2944368"/>
            <a:ext cx="2423160" cy="502920"/>
          </a:xfrm>
          <a:prstGeom prst="rect">
            <a:avLst/>
          </a:prstGeom>
          <a:noFill/>
          <a:ln/>
        </p:spPr>
        <p:txBody>
          <a:bodyPr wrap="square" lIns="0" tIns="0" rIns="0" bIns="0" rtlCol="0" anchor="ctr"/>
          <a:lstStyle/>
          <a:p>
            <a:pPr algn="ctr" indent="0" marL="0">
              <a:buNone/>
            </a:pPr>
            <a:r>
              <a:rPr lang="en-US" sz="1150" dirty="0">
                <a:solidFill>
                  <a:srgbClr val="9BA1AE"/>
                </a:solidFill>
                <a:latin typeface="Calibri" pitchFamily="34" charset="0"/>
                <a:ea typeface="Calibri" pitchFamily="34" charset="-122"/>
                <a:cs typeface="Calibri" pitchFamily="34" charset="-120"/>
              </a:rPr>
              <a:t>acts on a real ticket</a:t>
            </a:r>
            <a:endParaRPr lang="en-US" sz="1150" dirty="0"/>
          </a:p>
        </p:txBody>
      </p:sp>
      <p:sp>
        <p:nvSpPr>
          <p:cNvPr id="17" name="Shape 14"/>
          <p:cNvSpPr/>
          <p:nvPr/>
        </p:nvSpPr>
        <p:spPr>
          <a:xfrm>
            <a:off x="3108960" y="2880360"/>
            <a:ext cx="320040" cy="0"/>
          </a:xfrm>
          <a:prstGeom prst="line">
            <a:avLst/>
          </a:prstGeom>
          <a:noFill/>
          <a:ln w="31750">
            <a:solidFill>
              <a:srgbClr val="6E7480"/>
            </a:solidFill>
            <a:prstDash val="solid"/>
            <a:tailEnd type="triangle"/>
          </a:ln>
        </p:spPr>
      </p:sp>
      <p:sp>
        <p:nvSpPr>
          <p:cNvPr id="18" name="Shape 15"/>
          <p:cNvSpPr/>
          <p:nvPr/>
        </p:nvSpPr>
        <p:spPr>
          <a:xfrm>
            <a:off x="5897880" y="2880360"/>
            <a:ext cx="320040" cy="0"/>
          </a:xfrm>
          <a:prstGeom prst="line">
            <a:avLst/>
          </a:prstGeom>
          <a:noFill/>
          <a:ln w="31750">
            <a:solidFill>
              <a:srgbClr val="6E7480"/>
            </a:solidFill>
            <a:prstDash val="solid"/>
            <a:tailEnd type="triangle"/>
          </a:ln>
        </p:spPr>
      </p:sp>
      <p:sp>
        <p:nvSpPr>
          <p:cNvPr id="19" name="Shape 16"/>
          <p:cNvSpPr/>
          <p:nvPr/>
        </p:nvSpPr>
        <p:spPr>
          <a:xfrm>
            <a:off x="8686800" y="2880360"/>
            <a:ext cx="320040" cy="0"/>
          </a:xfrm>
          <a:prstGeom prst="line">
            <a:avLst/>
          </a:prstGeom>
          <a:noFill/>
          <a:ln w="31750">
            <a:solidFill>
              <a:srgbClr val="6E7480"/>
            </a:solidFill>
            <a:prstDash val="solid"/>
            <a:tailEnd type="triangle"/>
          </a:ln>
        </p:spPr>
      </p:sp>
      <p:sp>
        <p:nvSpPr>
          <p:cNvPr id="20" name="Text 17"/>
          <p:cNvSpPr/>
          <p:nvPr/>
        </p:nvSpPr>
        <p:spPr>
          <a:xfrm>
            <a:off x="640080" y="4114800"/>
            <a:ext cx="10881360" cy="914400"/>
          </a:xfrm>
          <a:prstGeom prst="rect">
            <a:avLst/>
          </a:prstGeom>
          <a:noFill/>
          <a:ln/>
        </p:spPr>
        <p:txBody>
          <a:bodyPr wrap="square" lIns="0" tIns="0" rIns="0" bIns="0" rtlCol="0" anchor="ctr"/>
          <a:lstStyle/>
          <a:p>
            <a:pPr indent="0" marL="0">
              <a:buNone/>
            </a:pPr>
            <a:r>
              <a:rPr lang="en-US" sz="1550" b="1" dirty="0">
                <a:solidFill>
                  <a:srgbClr val="F46800"/>
                </a:solidFill>
                <a:latin typeface="Calibri" pitchFamily="34" charset="0"/>
                <a:ea typeface="Calibri" pitchFamily="34" charset="-122"/>
                <a:cs typeface="Calibri" pitchFamily="34" charset="-120"/>
              </a:rPr>
              <a:t>What I set up: </a:t>
            </a:r>
            <a:pPr indent="0" marL="0">
              <a:buNone/>
            </a:pPr>
            <a:r>
              <a:rPr lang="en-US" sz="1550" dirty="0">
                <a:solidFill>
                  <a:srgbClr val="F4F5F7"/>
                </a:solidFill>
                <a:latin typeface="Calibri" pitchFamily="34" charset="0"/>
                <a:ea typeface="Calibri" pitchFamily="34" charset="-122"/>
                <a:cs typeface="Calibri" pitchFamily="34" charset="-120"/>
              </a:rPr>
              <a:t>2–3 business-specific alerts (not just CPU) wired to BigPanda. BigPanda forwards to ServiceNow for auto-ticketing — so an alert becomes an actionable ticket with no human relay.</a:t>
            </a:r>
            <a:endParaRPr lang="en-US" sz="1550" dirty="0"/>
          </a:p>
        </p:txBody>
      </p:sp>
      <p:sp>
        <p:nvSpPr>
          <p:cNvPr id="21" name="Text 18"/>
          <p:cNvSpPr/>
          <p:nvPr/>
        </p:nvSpPr>
        <p:spPr>
          <a:xfrm>
            <a:off x="640080" y="5212080"/>
            <a:ext cx="10881360" cy="822960"/>
          </a:xfrm>
          <a:prstGeom prst="rect">
            <a:avLst/>
          </a:prstGeom>
          <a:noFill/>
          <a:ln/>
        </p:spPr>
        <p:txBody>
          <a:bodyPr wrap="square" lIns="0" tIns="0" rIns="0" bIns="0" rtlCol="0" anchor="ctr"/>
          <a:lstStyle/>
          <a:p>
            <a:pPr indent="0" marL="0">
              <a:buNone/>
            </a:pPr>
            <a:r>
              <a:rPr lang="en-US" sz="1400" b="1" i="1" dirty="0">
                <a:solidFill>
                  <a:srgbClr val="73BF69"/>
                </a:solidFill>
                <a:latin typeface="Calibri" pitchFamily="34" charset="0"/>
                <a:ea typeface="Calibri" pitchFamily="34" charset="-122"/>
                <a:cs typeface="Calibri" pitchFamily="34" charset="-120"/>
              </a:rPr>
              <a:t>Start small. </a:t>
            </a:r>
            <a:pPr indent="0" marL="0">
              <a:buNone/>
            </a:pPr>
            <a:r>
              <a:rPr lang="en-US" sz="1400" i="1" dirty="0">
                <a:solidFill>
                  <a:srgbClr val="9BA1AE"/>
                </a:solidFill>
                <a:latin typeface="Calibri" pitchFamily="34" charset="0"/>
                <a:ea typeface="Calibri" pitchFamily="34" charset="-122"/>
                <a:cs typeface="Calibri" pitchFamily="34" charset="-120"/>
              </a:rPr>
              <a:t>A few alerts that map to real business pain beat fifty noisy ones. Tune thresholds before you add more, or you train people to ignore the pager.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FORCE MULTIPLIER</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Building dashboards with AI</a:t>
            </a:r>
            <a:endParaRPr lang="en-US" sz="3000" dirty="0"/>
          </a:p>
        </p:txBody>
      </p:sp>
      <p:pic>
        <p:nvPicPr>
          <p:cNvPr id="4" name="Image 0" descr="preencoded.png">    </p:cNvPr>
          <p:cNvPicPr>
            <a:picLocks noChangeAspect="1"/>
          </p:cNvPicPr>
          <p:nvPr/>
        </p:nvPicPr>
        <p:blipFill>
          <a:blip r:embed="rId1"/>
          <a:stretch>
            <a:fillRect/>
          </a:stretch>
        </p:blipFill>
        <p:spPr>
          <a:xfrm>
            <a:off x="10424160" y="502920"/>
            <a:ext cx="822960" cy="822960"/>
          </a:xfrm>
          <a:prstGeom prst="rect">
            <a:avLst/>
          </a:prstGeom>
        </p:spPr>
      </p:pic>
      <p:sp>
        <p:nvSpPr>
          <p:cNvPr id="5" name="Shape 2"/>
          <p:cNvSpPr/>
          <p:nvPr/>
        </p:nvSpPr>
        <p:spPr>
          <a:xfrm>
            <a:off x="640080" y="1645920"/>
            <a:ext cx="6400800" cy="841248"/>
          </a:xfrm>
          <a:prstGeom prst="rect">
            <a:avLst/>
          </a:prstGeom>
          <a:solidFill>
            <a:srgbClr val="1B1F2B"/>
          </a:solidFill>
          <a:ln w="12700">
            <a:solidFill>
              <a:srgbClr val="232838"/>
            </a:solidFill>
            <a:prstDash val="solid"/>
          </a:ln>
        </p:spPr>
      </p:sp>
      <p:sp>
        <p:nvSpPr>
          <p:cNvPr id="6" name="Text 3"/>
          <p:cNvSpPr/>
          <p:nvPr/>
        </p:nvSpPr>
        <p:spPr>
          <a:xfrm>
            <a:off x="777240" y="1792224"/>
            <a:ext cx="548640" cy="548640"/>
          </a:xfrm>
          <a:prstGeom prst="rect">
            <a:avLst/>
          </a:prstGeom>
          <a:noFill/>
          <a:ln/>
        </p:spPr>
        <p:txBody>
          <a:bodyPr wrap="square" lIns="0" tIns="0" rIns="0" bIns="0" rtlCol="0" anchor="ctr"/>
          <a:lstStyle/>
          <a:p>
            <a:pPr algn="ctr" indent="0" marL="0">
              <a:buNone/>
            </a:pPr>
            <a:r>
              <a:rPr lang="en-US" sz="2600" b="1" dirty="0">
                <a:solidFill>
                  <a:srgbClr val="33C5C9"/>
                </a:solidFill>
                <a:latin typeface="Trebuchet MS" pitchFamily="34" charset="0"/>
                <a:ea typeface="Trebuchet MS" pitchFamily="34" charset="-122"/>
                <a:cs typeface="Trebuchet MS" pitchFamily="34" charset="-120"/>
              </a:rPr>
              <a:t>1</a:t>
            </a:r>
            <a:endParaRPr lang="en-US" sz="2600" dirty="0"/>
          </a:p>
        </p:txBody>
      </p:sp>
      <p:sp>
        <p:nvSpPr>
          <p:cNvPr id="7" name="Text 4"/>
          <p:cNvSpPr/>
          <p:nvPr/>
        </p:nvSpPr>
        <p:spPr>
          <a:xfrm>
            <a:off x="1417320" y="1755648"/>
            <a:ext cx="5486400" cy="347472"/>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Describe</a:t>
            </a:r>
            <a:endParaRPr lang="en-US" sz="1600" dirty="0"/>
          </a:p>
        </p:txBody>
      </p:sp>
      <p:sp>
        <p:nvSpPr>
          <p:cNvPr id="8" name="Text 5"/>
          <p:cNvSpPr/>
          <p:nvPr/>
        </p:nvSpPr>
        <p:spPr>
          <a:xfrm>
            <a:off x="1417320" y="2103120"/>
            <a:ext cx="5486400" cy="347472"/>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Tell the AI the panels you want in plain English + which metrics/labels exist.</a:t>
            </a:r>
            <a:endParaRPr lang="en-US" sz="1250" dirty="0"/>
          </a:p>
        </p:txBody>
      </p:sp>
      <p:sp>
        <p:nvSpPr>
          <p:cNvPr id="9" name="Shape 6"/>
          <p:cNvSpPr/>
          <p:nvPr/>
        </p:nvSpPr>
        <p:spPr>
          <a:xfrm>
            <a:off x="640080" y="2624328"/>
            <a:ext cx="6400800" cy="841248"/>
          </a:xfrm>
          <a:prstGeom prst="rect">
            <a:avLst/>
          </a:prstGeom>
          <a:solidFill>
            <a:srgbClr val="1B1F2B"/>
          </a:solidFill>
          <a:ln w="12700">
            <a:solidFill>
              <a:srgbClr val="232838"/>
            </a:solidFill>
            <a:prstDash val="solid"/>
          </a:ln>
        </p:spPr>
      </p:sp>
      <p:sp>
        <p:nvSpPr>
          <p:cNvPr id="10" name="Text 7"/>
          <p:cNvSpPr/>
          <p:nvPr/>
        </p:nvSpPr>
        <p:spPr>
          <a:xfrm>
            <a:off x="777240" y="2770632"/>
            <a:ext cx="548640" cy="548640"/>
          </a:xfrm>
          <a:prstGeom prst="rect">
            <a:avLst/>
          </a:prstGeom>
          <a:noFill/>
          <a:ln/>
        </p:spPr>
        <p:txBody>
          <a:bodyPr wrap="square" lIns="0" tIns="0" rIns="0" bIns="0" rtlCol="0" anchor="ctr"/>
          <a:lstStyle/>
          <a:p>
            <a:pPr algn="ctr" indent="0" marL="0">
              <a:buNone/>
            </a:pPr>
            <a:r>
              <a:rPr lang="en-US" sz="2600" b="1" dirty="0">
                <a:solidFill>
                  <a:srgbClr val="33C5C9"/>
                </a:solidFill>
                <a:latin typeface="Trebuchet MS" pitchFamily="34" charset="0"/>
                <a:ea typeface="Trebuchet MS" pitchFamily="34" charset="-122"/>
                <a:cs typeface="Trebuchet MS" pitchFamily="34" charset="-120"/>
              </a:rPr>
              <a:t>2</a:t>
            </a:r>
            <a:endParaRPr lang="en-US" sz="2600" dirty="0"/>
          </a:p>
        </p:txBody>
      </p:sp>
      <p:sp>
        <p:nvSpPr>
          <p:cNvPr id="11" name="Text 8"/>
          <p:cNvSpPr/>
          <p:nvPr/>
        </p:nvSpPr>
        <p:spPr>
          <a:xfrm>
            <a:off x="1417320" y="2734056"/>
            <a:ext cx="5486400" cy="347472"/>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Generate</a:t>
            </a:r>
            <a:endParaRPr lang="en-US" sz="1600" dirty="0"/>
          </a:p>
        </p:txBody>
      </p:sp>
      <p:sp>
        <p:nvSpPr>
          <p:cNvPr id="12" name="Text 9"/>
          <p:cNvSpPr/>
          <p:nvPr/>
        </p:nvSpPr>
        <p:spPr>
          <a:xfrm>
            <a:off x="1417320" y="3081528"/>
            <a:ext cx="5486400" cy="347472"/>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It returns Grafana dashboard JSON.</a:t>
            </a:r>
            <a:endParaRPr lang="en-US" sz="1250" dirty="0"/>
          </a:p>
        </p:txBody>
      </p:sp>
      <p:sp>
        <p:nvSpPr>
          <p:cNvPr id="13" name="Shape 10"/>
          <p:cNvSpPr/>
          <p:nvPr/>
        </p:nvSpPr>
        <p:spPr>
          <a:xfrm>
            <a:off x="640080" y="3602736"/>
            <a:ext cx="6400800" cy="841248"/>
          </a:xfrm>
          <a:prstGeom prst="rect">
            <a:avLst/>
          </a:prstGeom>
          <a:solidFill>
            <a:srgbClr val="1B1F2B"/>
          </a:solidFill>
          <a:ln w="12700">
            <a:solidFill>
              <a:srgbClr val="232838"/>
            </a:solidFill>
            <a:prstDash val="solid"/>
          </a:ln>
        </p:spPr>
      </p:sp>
      <p:sp>
        <p:nvSpPr>
          <p:cNvPr id="14" name="Text 11"/>
          <p:cNvSpPr/>
          <p:nvPr/>
        </p:nvSpPr>
        <p:spPr>
          <a:xfrm>
            <a:off x="777240" y="3749040"/>
            <a:ext cx="548640" cy="548640"/>
          </a:xfrm>
          <a:prstGeom prst="rect">
            <a:avLst/>
          </a:prstGeom>
          <a:noFill/>
          <a:ln/>
        </p:spPr>
        <p:txBody>
          <a:bodyPr wrap="square" lIns="0" tIns="0" rIns="0" bIns="0" rtlCol="0" anchor="ctr"/>
          <a:lstStyle/>
          <a:p>
            <a:pPr algn="ctr" indent="0" marL="0">
              <a:buNone/>
            </a:pPr>
            <a:r>
              <a:rPr lang="en-US" sz="2600" b="1" dirty="0">
                <a:solidFill>
                  <a:srgbClr val="33C5C9"/>
                </a:solidFill>
                <a:latin typeface="Trebuchet MS" pitchFamily="34" charset="0"/>
                <a:ea typeface="Trebuchet MS" pitchFamily="34" charset="-122"/>
                <a:cs typeface="Trebuchet MS" pitchFamily="34" charset="-120"/>
              </a:rPr>
              <a:t>3</a:t>
            </a:r>
            <a:endParaRPr lang="en-US" sz="2600" dirty="0"/>
          </a:p>
        </p:txBody>
      </p:sp>
      <p:sp>
        <p:nvSpPr>
          <p:cNvPr id="15" name="Text 12"/>
          <p:cNvSpPr/>
          <p:nvPr/>
        </p:nvSpPr>
        <p:spPr>
          <a:xfrm>
            <a:off x="1417320" y="3712464"/>
            <a:ext cx="5486400" cy="347472"/>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Import</a:t>
            </a:r>
            <a:endParaRPr lang="en-US" sz="1600" dirty="0"/>
          </a:p>
        </p:txBody>
      </p:sp>
      <p:sp>
        <p:nvSpPr>
          <p:cNvPr id="16" name="Text 13"/>
          <p:cNvSpPr/>
          <p:nvPr/>
        </p:nvSpPr>
        <p:spPr>
          <a:xfrm>
            <a:off x="1417320" y="4059936"/>
            <a:ext cx="5486400" cy="347472"/>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Paste the JSON into Grafana → Import.</a:t>
            </a:r>
            <a:endParaRPr lang="en-US" sz="1250" dirty="0"/>
          </a:p>
        </p:txBody>
      </p:sp>
      <p:sp>
        <p:nvSpPr>
          <p:cNvPr id="17" name="Shape 14"/>
          <p:cNvSpPr/>
          <p:nvPr/>
        </p:nvSpPr>
        <p:spPr>
          <a:xfrm>
            <a:off x="640080" y="4581144"/>
            <a:ext cx="6400800" cy="841248"/>
          </a:xfrm>
          <a:prstGeom prst="rect">
            <a:avLst/>
          </a:prstGeom>
          <a:solidFill>
            <a:srgbClr val="1B1F2B"/>
          </a:solidFill>
          <a:ln w="12700">
            <a:solidFill>
              <a:srgbClr val="232838"/>
            </a:solidFill>
            <a:prstDash val="solid"/>
          </a:ln>
        </p:spPr>
      </p:sp>
      <p:sp>
        <p:nvSpPr>
          <p:cNvPr id="18" name="Text 15"/>
          <p:cNvSpPr/>
          <p:nvPr/>
        </p:nvSpPr>
        <p:spPr>
          <a:xfrm>
            <a:off x="777240" y="4727448"/>
            <a:ext cx="548640" cy="548640"/>
          </a:xfrm>
          <a:prstGeom prst="rect">
            <a:avLst/>
          </a:prstGeom>
          <a:noFill/>
          <a:ln/>
        </p:spPr>
        <p:txBody>
          <a:bodyPr wrap="square" lIns="0" tIns="0" rIns="0" bIns="0" rtlCol="0" anchor="ctr"/>
          <a:lstStyle/>
          <a:p>
            <a:pPr algn="ctr" indent="0" marL="0">
              <a:buNone/>
            </a:pPr>
            <a:r>
              <a:rPr lang="en-US" sz="2600" b="1" dirty="0">
                <a:solidFill>
                  <a:srgbClr val="33C5C9"/>
                </a:solidFill>
                <a:latin typeface="Trebuchet MS" pitchFamily="34" charset="0"/>
                <a:ea typeface="Trebuchet MS" pitchFamily="34" charset="-122"/>
                <a:cs typeface="Trebuchet MS" pitchFamily="34" charset="-120"/>
              </a:rPr>
              <a:t>4</a:t>
            </a:r>
            <a:endParaRPr lang="en-US" sz="2600" dirty="0"/>
          </a:p>
        </p:txBody>
      </p:sp>
      <p:sp>
        <p:nvSpPr>
          <p:cNvPr id="19" name="Text 16"/>
          <p:cNvSpPr/>
          <p:nvPr/>
        </p:nvSpPr>
        <p:spPr>
          <a:xfrm>
            <a:off x="1417320" y="4690872"/>
            <a:ext cx="5486400" cy="347472"/>
          </a:xfrm>
          <a:prstGeom prst="rect">
            <a:avLst/>
          </a:prstGeom>
          <a:noFill/>
          <a:ln/>
        </p:spPr>
        <p:txBody>
          <a:bodyPr wrap="square" lIns="0" tIns="0" rIns="0" bIns="0" rtlCol="0" anchor="ctr"/>
          <a:lstStyle/>
          <a:p>
            <a:pPr indent="0" marL="0">
              <a:buNone/>
            </a:pPr>
            <a:r>
              <a:rPr lang="en-US" sz="1600" b="1" dirty="0">
                <a:solidFill>
                  <a:srgbClr val="F4F5F7"/>
                </a:solidFill>
                <a:latin typeface="Trebuchet MS" pitchFamily="34" charset="0"/>
                <a:ea typeface="Trebuchet MS" pitchFamily="34" charset="-122"/>
                <a:cs typeface="Trebuchet MS" pitchFamily="34" charset="-120"/>
              </a:rPr>
              <a:t>Review &amp; iterate</a:t>
            </a:r>
            <a:endParaRPr lang="en-US" sz="1600" dirty="0"/>
          </a:p>
        </p:txBody>
      </p:sp>
      <p:sp>
        <p:nvSpPr>
          <p:cNvPr id="20" name="Text 17"/>
          <p:cNvSpPr/>
          <p:nvPr/>
        </p:nvSpPr>
        <p:spPr>
          <a:xfrm>
            <a:off x="1417320" y="5038344"/>
            <a:ext cx="5486400" cy="347472"/>
          </a:xfrm>
          <a:prstGeom prst="rect">
            <a:avLst/>
          </a:prstGeom>
          <a:noFill/>
          <a:ln/>
        </p:spPr>
        <p:txBody>
          <a:bodyPr wrap="square" lIns="0" tIns="0" rIns="0" bIns="0" rtlCol="0" anchor="ctr"/>
          <a:lstStyle/>
          <a:p>
            <a:pPr indent="0" marL="0">
              <a:buNone/>
            </a:pPr>
            <a:r>
              <a:rPr lang="en-US" sz="1250" dirty="0">
                <a:solidFill>
                  <a:srgbClr val="9BA1AE"/>
                </a:solidFill>
                <a:latin typeface="Calibri" pitchFamily="34" charset="0"/>
                <a:ea typeface="Calibri" pitchFamily="34" charset="-122"/>
                <a:cs typeface="Calibri" pitchFamily="34" charset="-120"/>
              </a:rPr>
              <a:t>Check queries against real data; refine the prompt.</a:t>
            </a:r>
            <a:endParaRPr lang="en-US" sz="1250" dirty="0"/>
          </a:p>
        </p:txBody>
      </p:sp>
      <p:sp>
        <p:nvSpPr>
          <p:cNvPr id="21" name="Shape 18"/>
          <p:cNvSpPr/>
          <p:nvPr/>
        </p:nvSpPr>
        <p:spPr>
          <a:xfrm>
            <a:off x="7406640" y="1645920"/>
            <a:ext cx="4206240" cy="4160520"/>
          </a:xfrm>
          <a:prstGeom prst="rect">
            <a:avLst/>
          </a:prstGeom>
          <a:solidFill>
            <a:srgbClr val="1B1F2B"/>
          </a:solidFill>
          <a:ln w="15875">
            <a:solidFill>
              <a:srgbClr val="FF8A3D"/>
            </a:solidFill>
            <a:prstDash val="solid"/>
          </a:ln>
          <a:effectLst>
            <a:outerShdw sx="100000" sy="100000" kx="0" ky="0" algn="bl" rotWithShape="0" blurRad="114300" dist="38100" dir="8100000">
              <a:srgbClr val="000000">
                <a:alpha val="35000"/>
              </a:srgbClr>
            </a:outerShdw>
          </a:effectLst>
        </p:spPr>
      </p:sp>
      <p:pic>
        <p:nvPicPr>
          <p:cNvPr id="22" name="Image 1" descr="preencoded.png">    </p:cNvPr>
          <p:cNvPicPr>
            <a:picLocks noChangeAspect="1"/>
          </p:cNvPicPr>
          <p:nvPr/>
        </p:nvPicPr>
        <p:blipFill>
          <a:blip r:embed="rId2"/>
          <a:stretch>
            <a:fillRect/>
          </a:stretch>
        </p:blipFill>
        <p:spPr>
          <a:xfrm>
            <a:off x="7635240" y="1828800"/>
            <a:ext cx="457200" cy="457200"/>
          </a:xfrm>
          <a:prstGeom prst="rect">
            <a:avLst/>
          </a:prstGeom>
        </p:spPr>
      </p:pic>
      <p:sp>
        <p:nvSpPr>
          <p:cNvPr id="23" name="Text 19"/>
          <p:cNvSpPr/>
          <p:nvPr/>
        </p:nvSpPr>
        <p:spPr>
          <a:xfrm>
            <a:off x="8183880" y="1874520"/>
            <a:ext cx="3291840" cy="411480"/>
          </a:xfrm>
          <a:prstGeom prst="rect">
            <a:avLst/>
          </a:prstGeom>
          <a:noFill/>
          <a:ln/>
        </p:spPr>
        <p:txBody>
          <a:bodyPr wrap="square" lIns="0" tIns="0" rIns="0" bIns="0" rtlCol="0" anchor="ctr"/>
          <a:lstStyle/>
          <a:p>
            <a:pPr indent="0" marL="0">
              <a:buNone/>
            </a:pPr>
            <a:r>
              <a:rPr lang="en-US" sz="1700" b="1" dirty="0">
                <a:solidFill>
                  <a:srgbClr val="FF8A3D"/>
                </a:solidFill>
                <a:latin typeface="Trebuchet MS" pitchFamily="34" charset="0"/>
                <a:ea typeface="Trebuchet MS" pitchFamily="34" charset="-122"/>
                <a:cs typeface="Trebuchet MS" pitchFamily="34" charset="-120"/>
              </a:rPr>
              <a:t>Use it, but verify</a:t>
            </a:r>
            <a:endParaRPr lang="en-US" sz="1700" dirty="0"/>
          </a:p>
        </p:txBody>
      </p:sp>
      <p:sp>
        <p:nvSpPr>
          <p:cNvPr id="24" name="Text 20"/>
          <p:cNvSpPr/>
          <p:nvPr/>
        </p:nvSpPr>
        <p:spPr>
          <a:xfrm>
            <a:off x="7635240" y="2423160"/>
            <a:ext cx="3749040" cy="320040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F4F5F7"/>
                </a:solidFill>
                <a:latin typeface="Calibri" pitchFamily="34" charset="0"/>
                <a:ea typeface="Calibri" pitchFamily="34" charset="-122"/>
                <a:cs typeface="Calibri" pitchFamily="34" charset="-120"/>
              </a:rPr>
              <a:t>AI can invent metric or label names that don't exist — always validate panels against live data.</a:t>
            </a:r>
            <a:endParaRPr lang="en-US" sz="1350" dirty="0"/>
          </a:p>
          <a:p>
            <a:pPr marL="342900" indent="-342900">
              <a:spcAft>
                <a:spcPts val="800"/>
              </a:spcAft>
              <a:buSzPct val="100000"/>
              <a:buChar char="•"/>
            </a:pPr>
            <a:r>
              <a:rPr lang="en-US" sz="1350" dirty="0">
                <a:solidFill>
                  <a:srgbClr val="F4F5F7"/>
                </a:solidFill>
                <a:latin typeface="Calibri" pitchFamily="34" charset="0"/>
                <a:ea typeface="Calibri" pitchFamily="34" charset="-122"/>
                <a:cs typeface="Calibri" pitchFamily="34" charset="-120"/>
              </a:rPr>
              <a:t>Great for a first draft &amp; layout; you own the final PromQL / LogQL.</a:t>
            </a:r>
            <a:endParaRPr lang="en-US" sz="1350" dirty="0"/>
          </a:p>
          <a:p>
            <a:pPr marL="342900" indent="-342900">
              <a:buSzPct val="100000"/>
              <a:buChar char="•"/>
            </a:pPr>
            <a:r>
              <a:rPr lang="en-US" sz="1350" dirty="0">
                <a:solidFill>
                  <a:srgbClr val="F4F5F7"/>
                </a:solidFill>
                <a:latin typeface="Calibri" pitchFamily="34" charset="0"/>
                <a:ea typeface="Calibri" pitchFamily="34" charset="-122"/>
                <a:cs typeface="Calibri" pitchFamily="34" charset="-120"/>
              </a:rPr>
              <a:t>Feed it your real label names so queries actually resolve.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WHERE THIS GOES</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The migration roadmap</a:t>
            </a:r>
            <a:endParaRPr lang="en-US" sz="3000" dirty="0"/>
          </a:p>
        </p:txBody>
      </p:sp>
      <p:sp>
        <p:nvSpPr>
          <p:cNvPr id="4" name="Shape 2"/>
          <p:cNvSpPr/>
          <p:nvPr/>
        </p:nvSpPr>
        <p:spPr>
          <a:xfrm>
            <a:off x="640080" y="1691640"/>
            <a:ext cx="3429000" cy="429768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5" name="Shape 3"/>
          <p:cNvSpPr/>
          <p:nvPr/>
        </p:nvSpPr>
        <p:spPr>
          <a:xfrm>
            <a:off x="640080" y="1691640"/>
            <a:ext cx="3429000" cy="640080"/>
          </a:xfrm>
          <a:prstGeom prst="rect">
            <a:avLst/>
          </a:prstGeom>
          <a:solidFill>
            <a:srgbClr val="F46800"/>
          </a:solidFill>
          <a:ln/>
        </p:spPr>
      </p:sp>
      <p:sp>
        <p:nvSpPr>
          <p:cNvPr id="6" name="Text 4"/>
          <p:cNvSpPr/>
          <p:nvPr/>
        </p:nvSpPr>
        <p:spPr>
          <a:xfrm>
            <a:off x="640080" y="1691640"/>
            <a:ext cx="3429000" cy="640080"/>
          </a:xfrm>
          <a:prstGeom prst="rect">
            <a:avLst/>
          </a:prstGeom>
          <a:noFill/>
          <a:ln/>
        </p:spPr>
        <p:txBody>
          <a:bodyPr wrap="square" lIns="0" tIns="0" rIns="0" bIns="0" rtlCol="0" anchor="ctr"/>
          <a:lstStyle/>
          <a:p>
            <a:pPr algn="ctr" indent="0" marL="0">
              <a:buNone/>
            </a:pPr>
            <a:r>
              <a:rPr lang="en-US" sz="2200" b="1" dirty="0">
                <a:solidFill>
                  <a:srgbClr val="12141C"/>
                </a:solidFill>
                <a:latin typeface="Trebuchet MS" pitchFamily="34" charset="0"/>
                <a:ea typeface="Trebuchet MS" pitchFamily="34" charset="-122"/>
                <a:cs typeface="Trebuchet MS" pitchFamily="34" charset="-120"/>
              </a:rPr>
              <a:t>NOW</a:t>
            </a:r>
            <a:endParaRPr lang="en-US" sz="2200" dirty="0"/>
          </a:p>
        </p:txBody>
      </p:sp>
      <p:sp>
        <p:nvSpPr>
          <p:cNvPr id="7" name="Text 5"/>
          <p:cNvSpPr/>
          <p:nvPr/>
        </p:nvSpPr>
        <p:spPr>
          <a:xfrm>
            <a:off x="914400" y="2606040"/>
            <a:ext cx="2926080" cy="3200400"/>
          </a:xfrm>
          <a:prstGeom prst="rect">
            <a:avLst/>
          </a:prstGeom>
          <a:noFill/>
          <a:ln/>
        </p:spPr>
        <p:txBody>
          <a:bodyPr wrap="square" lIns="0" tIns="0" rIns="0" bIns="0" rtlCol="0" anchor="ctr"/>
          <a:lstStyle/>
          <a:p>
            <a:pPr marL="342900" indent="-342900">
              <a:spcAft>
                <a:spcPts val="1400"/>
              </a:spcAft>
              <a:buSzPct val="100000"/>
              <a:buChar char="•"/>
            </a:pPr>
            <a:r>
              <a:rPr lang="en-US" sz="1450" dirty="0">
                <a:solidFill>
                  <a:srgbClr val="F4F5F7"/>
                </a:solidFill>
                <a:latin typeface="Calibri" pitchFamily="34" charset="0"/>
                <a:ea typeface="Calibri" pitchFamily="34" charset="-122"/>
                <a:cs typeface="Calibri" pitchFamily="34" charset="-120"/>
              </a:rPr>
              <a:t>Java + React onboarding proven</a:t>
            </a:r>
            <a:endParaRPr lang="en-US" sz="1450" dirty="0"/>
          </a:p>
          <a:p>
            <a:pPr marL="342900" indent="-342900">
              <a:spcAft>
                <a:spcPts val="1400"/>
              </a:spcAft>
              <a:buSzPct val="100000"/>
              <a:buChar char="•"/>
            </a:pPr>
            <a:r>
              <a:rPr lang="en-US" sz="1450" dirty="0">
                <a:solidFill>
                  <a:srgbClr val="F4F5F7"/>
                </a:solidFill>
                <a:latin typeface="Calibri" pitchFamily="34" charset="0"/>
                <a:ea typeface="Calibri" pitchFamily="34" charset="-122"/>
                <a:cs typeface="Calibri" pitchFamily="34" charset="-120"/>
              </a:rPr>
              <a:t>Standard RED dashboard live</a:t>
            </a:r>
            <a:endParaRPr lang="en-US" sz="1450" dirty="0"/>
          </a:p>
          <a:p>
            <a:pPr marL="342900" indent="-342900">
              <a:spcAft>
                <a:spcPts val="1400"/>
              </a:spcAft>
              <a:buSzPct val="100000"/>
              <a:buChar char="•"/>
            </a:pPr>
            <a:r>
              <a:rPr lang="en-US" sz="1450" dirty="0">
                <a:solidFill>
                  <a:srgbClr val="F4F5F7"/>
                </a:solidFill>
                <a:latin typeface="Calibri" pitchFamily="34" charset="0"/>
                <a:ea typeface="Calibri" pitchFamily="34" charset="-122"/>
                <a:cs typeface="Calibri" pitchFamily="34" charset="-120"/>
              </a:rPr>
              <a:t>2–3 business alerts → auto-ticketing</a:t>
            </a:r>
            <a:endParaRPr lang="en-US" sz="1450" dirty="0"/>
          </a:p>
        </p:txBody>
      </p:sp>
      <p:sp>
        <p:nvSpPr>
          <p:cNvPr id="8" name="Shape 6"/>
          <p:cNvSpPr/>
          <p:nvPr/>
        </p:nvSpPr>
        <p:spPr>
          <a:xfrm>
            <a:off x="4297680" y="1691640"/>
            <a:ext cx="3429000" cy="429768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9" name="Shape 7"/>
          <p:cNvSpPr/>
          <p:nvPr/>
        </p:nvSpPr>
        <p:spPr>
          <a:xfrm>
            <a:off x="4297680" y="1691640"/>
            <a:ext cx="3429000" cy="640080"/>
          </a:xfrm>
          <a:prstGeom prst="rect">
            <a:avLst/>
          </a:prstGeom>
          <a:solidFill>
            <a:srgbClr val="33C5C9"/>
          </a:solidFill>
          <a:ln/>
        </p:spPr>
      </p:sp>
      <p:sp>
        <p:nvSpPr>
          <p:cNvPr id="10" name="Text 8"/>
          <p:cNvSpPr/>
          <p:nvPr/>
        </p:nvSpPr>
        <p:spPr>
          <a:xfrm>
            <a:off x="4297680" y="1691640"/>
            <a:ext cx="3429000" cy="640080"/>
          </a:xfrm>
          <a:prstGeom prst="rect">
            <a:avLst/>
          </a:prstGeom>
          <a:noFill/>
          <a:ln/>
        </p:spPr>
        <p:txBody>
          <a:bodyPr wrap="square" lIns="0" tIns="0" rIns="0" bIns="0" rtlCol="0" anchor="ctr"/>
          <a:lstStyle/>
          <a:p>
            <a:pPr algn="ctr" indent="0" marL="0">
              <a:buNone/>
            </a:pPr>
            <a:r>
              <a:rPr lang="en-US" sz="2200" b="1" dirty="0">
                <a:solidFill>
                  <a:srgbClr val="12141C"/>
                </a:solidFill>
                <a:latin typeface="Trebuchet MS" pitchFamily="34" charset="0"/>
                <a:ea typeface="Trebuchet MS" pitchFamily="34" charset="-122"/>
                <a:cs typeface="Trebuchet MS" pitchFamily="34" charset="-120"/>
              </a:rPr>
              <a:t>NEXT</a:t>
            </a:r>
            <a:endParaRPr lang="en-US" sz="2200" dirty="0"/>
          </a:p>
        </p:txBody>
      </p:sp>
      <p:sp>
        <p:nvSpPr>
          <p:cNvPr id="11" name="Text 9"/>
          <p:cNvSpPr/>
          <p:nvPr/>
        </p:nvSpPr>
        <p:spPr>
          <a:xfrm>
            <a:off x="4572000" y="2606040"/>
            <a:ext cx="2926080" cy="3200400"/>
          </a:xfrm>
          <a:prstGeom prst="rect">
            <a:avLst/>
          </a:prstGeom>
          <a:noFill/>
          <a:ln/>
        </p:spPr>
        <p:txBody>
          <a:bodyPr wrap="square" lIns="0" tIns="0" rIns="0" bIns="0" rtlCol="0" anchor="ctr"/>
          <a:lstStyle/>
          <a:p>
            <a:pPr marL="342900" indent="-342900">
              <a:spcAft>
                <a:spcPts val="1400"/>
              </a:spcAft>
              <a:buSzPct val="100000"/>
              <a:buChar char="•"/>
            </a:pPr>
            <a:r>
              <a:rPr lang="en-US" sz="1450" dirty="0">
                <a:solidFill>
                  <a:srgbClr val="F4F5F7"/>
                </a:solidFill>
                <a:latin typeface="Calibri" pitchFamily="34" charset="0"/>
                <a:ea typeface="Calibri" pitchFamily="34" charset="-122"/>
                <a:cs typeface="Calibri" pitchFamily="34" charset="-120"/>
              </a:rPr>
              <a:t>Roll out team by team</a:t>
            </a:r>
            <a:endParaRPr lang="en-US" sz="1450" dirty="0"/>
          </a:p>
          <a:p>
            <a:pPr marL="342900" indent="-342900">
              <a:spcAft>
                <a:spcPts val="1400"/>
              </a:spcAft>
              <a:buSzPct val="100000"/>
              <a:buChar char="•"/>
            </a:pPr>
            <a:r>
              <a:rPr lang="en-US" sz="1450" dirty="0">
                <a:solidFill>
                  <a:srgbClr val="F4F5F7"/>
                </a:solidFill>
                <a:latin typeface="Calibri" pitchFamily="34" charset="0"/>
                <a:ea typeface="Calibri" pitchFamily="34" charset="-122"/>
                <a:cs typeface="Calibri" pitchFamily="34" charset="-120"/>
              </a:rPr>
              <a:t>Self-serve runbook + office hours</a:t>
            </a:r>
            <a:endParaRPr lang="en-US" sz="1450" dirty="0"/>
          </a:p>
          <a:p>
            <a:pPr marL="342900" indent="-342900">
              <a:spcAft>
                <a:spcPts val="1400"/>
              </a:spcAft>
              <a:buSzPct val="100000"/>
              <a:buChar char="•"/>
            </a:pPr>
            <a:r>
              <a:rPr lang="en-US" sz="1450" dirty="0">
                <a:solidFill>
                  <a:srgbClr val="F4F5F7"/>
                </a:solidFill>
                <a:latin typeface="Calibri" pitchFamily="34" charset="0"/>
                <a:ea typeface="Calibri" pitchFamily="34" charset="-122"/>
                <a:cs typeface="Calibri" pitchFamily="34" charset="-120"/>
              </a:rPr>
              <a:t>Azure resource metrics in Grafana</a:t>
            </a:r>
            <a:endParaRPr lang="en-US" sz="1450" dirty="0"/>
          </a:p>
        </p:txBody>
      </p:sp>
      <p:sp>
        <p:nvSpPr>
          <p:cNvPr id="12" name="Shape 10"/>
          <p:cNvSpPr/>
          <p:nvPr/>
        </p:nvSpPr>
        <p:spPr>
          <a:xfrm>
            <a:off x="7955280" y="1691640"/>
            <a:ext cx="3429000" cy="4297680"/>
          </a:xfrm>
          <a:prstGeom prst="rect">
            <a:avLst/>
          </a:prstGeom>
          <a:solidFill>
            <a:srgbClr val="1B1F2B"/>
          </a:solidFill>
          <a:ln w="12700">
            <a:solidFill>
              <a:srgbClr val="232838"/>
            </a:solidFill>
            <a:prstDash val="solid"/>
          </a:ln>
          <a:effectLst>
            <a:outerShdw sx="100000" sy="100000" kx="0" ky="0" algn="bl" rotWithShape="0" blurRad="114300" dist="38100" dir="8100000">
              <a:srgbClr val="000000">
                <a:alpha val="35000"/>
              </a:srgbClr>
            </a:outerShdw>
          </a:effectLst>
        </p:spPr>
      </p:sp>
      <p:sp>
        <p:nvSpPr>
          <p:cNvPr id="13" name="Shape 11"/>
          <p:cNvSpPr/>
          <p:nvPr/>
        </p:nvSpPr>
        <p:spPr>
          <a:xfrm>
            <a:off x="7955280" y="1691640"/>
            <a:ext cx="3429000" cy="640080"/>
          </a:xfrm>
          <a:prstGeom prst="rect">
            <a:avLst/>
          </a:prstGeom>
          <a:solidFill>
            <a:srgbClr val="73BF69"/>
          </a:solidFill>
          <a:ln/>
        </p:spPr>
      </p:sp>
      <p:sp>
        <p:nvSpPr>
          <p:cNvPr id="14" name="Text 12"/>
          <p:cNvSpPr/>
          <p:nvPr/>
        </p:nvSpPr>
        <p:spPr>
          <a:xfrm>
            <a:off x="7955280" y="1691640"/>
            <a:ext cx="3429000" cy="640080"/>
          </a:xfrm>
          <a:prstGeom prst="rect">
            <a:avLst/>
          </a:prstGeom>
          <a:noFill/>
          <a:ln/>
        </p:spPr>
        <p:txBody>
          <a:bodyPr wrap="square" lIns="0" tIns="0" rIns="0" bIns="0" rtlCol="0" anchor="ctr"/>
          <a:lstStyle/>
          <a:p>
            <a:pPr algn="ctr" indent="0" marL="0">
              <a:buNone/>
            </a:pPr>
            <a:r>
              <a:rPr lang="en-US" sz="2200" b="1" dirty="0">
                <a:solidFill>
                  <a:srgbClr val="12141C"/>
                </a:solidFill>
                <a:latin typeface="Trebuchet MS" pitchFamily="34" charset="0"/>
                <a:ea typeface="Trebuchet MS" pitchFamily="34" charset="-122"/>
                <a:cs typeface="Trebuchet MS" pitchFamily="34" charset="-120"/>
              </a:rPr>
              <a:t>LATER</a:t>
            </a:r>
            <a:endParaRPr lang="en-US" sz="2200" dirty="0"/>
          </a:p>
        </p:txBody>
      </p:sp>
      <p:sp>
        <p:nvSpPr>
          <p:cNvPr id="15" name="Text 13"/>
          <p:cNvSpPr/>
          <p:nvPr/>
        </p:nvSpPr>
        <p:spPr>
          <a:xfrm>
            <a:off x="8229600" y="2606040"/>
            <a:ext cx="2926080" cy="3200400"/>
          </a:xfrm>
          <a:prstGeom prst="rect">
            <a:avLst/>
          </a:prstGeom>
          <a:noFill/>
          <a:ln/>
        </p:spPr>
        <p:txBody>
          <a:bodyPr wrap="square" lIns="0" tIns="0" rIns="0" bIns="0" rtlCol="0" anchor="ctr"/>
          <a:lstStyle/>
          <a:p>
            <a:pPr marL="342900" indent="-342900">
              <a:spcAft>
                <a:spcPts val="1400"/>
              </a:spcAft>
              <a:buSzPct val="100000"/>
              <a:buChar char="•"/>
            </a:pPr>
            <a:r>
              <a:rPr lang="en-US" sz="1450" dirty="0">
                <a:solidFill>
                  <a:srgbClr val="F4F5F7"/>
                </a:solidFill>
                <a:latin typeface="Calibri" pitchFamily="34" charset="0"/>
                <a:ea typeface="Calibri" pitchFamily="34" charset="-122"/>
                <a:cs typeface="Calibri" pitchFamily="34" charset="-120"/>
              </a:rPr>
              <a:t>Trace–log–metric correlation by default</a:t>
            </a:r>
            <a:endParaRPr lang="en-US" sz="1450" dirty="0"/>
          </a:p>
          <a:p>
            <a:pPr marL="342900" indent="-342900">
              <a:spcAft>
                <a:spcPts val="1400"/>
              </a:spcAft>
              <a:buSzPct val="100000"/>
              <a:buChar char="•"/>
            </a:pPr>
            <a:r>
              <a:rPr lang="en-US" sz="1450" dirty="0">
                <a:solidFill>
                  <a:srgbClr val="F4F5F7"/>
                </a:solidFill>
                <a:latin typeface="Calibri" pitchFamily="34" charset="0"/>
                <a:ea typeface="Calibri" pitchFamily="34" charset="-122"/>
                <a:cs typeface="Calibri" pitchFamily="34" charset="-120"/>
              </a:rPr>
              <a:t>Shared alert &amp; dashboard library</a:t>
            </a:r>
            <a:endParaRPr lang="en-US" sz="1450" dirty="0"/>
          </a:p>
          <a:p>
            <a:pPr marL="342900" indent="-342900">
              <a:spcAft>
                <a:spcPts val="1400"/>
              </a:spcAft>
              <a:buSzPct val="100000"/>
              <a:buChar char="•"/>
            </a:pPr>
            <a:r>
              <a:rPr lang="en-US" sz="1450" dirty="0">
                <a:solidFill>
                  <a:srgbClr val="F4F5F7"/>
                </a:solidFill>
                <a:latin typeface="Calibri" pitchFamily="34" charset="0"/>
                <a:ea typeface="Calibri" pitchFamily="34" charset="-122"/>
                <a:cs typeface="Calibri" pitchFamily="34" charset="-120"/>
              </a:rPr>
              <a:t>Full Splunk decommission</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THE HONEST OPEN ITEM</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Monitoring Azure resource allocation</a:t>
            </a:r>
            <a:endParaRPr lang="en-US" sz="3000" dirty="0"/>
          </a:p>
        </p:txBody>
      </p:sp>
      <p:pic>
        <p:nvPicPr>
          <p:cNvPr id="4" name="Image 0" descr="preencoded.png">    </p:cNvPr>
          <p:cNvPicPr>
            <a:picLocks noChangeAspect="1"/>
          </p:cNvPicPr>
          <p:nvPr/>
        </p:nvPicPr>
        <p:blipFill>
          <a:blip r:embed="rId1"/>
          <a:stretch>
            <a:fillRect/>
          </a:stretch>
        </p:blipFill>
        <p:spPr>
          <a:xfrm>
            <a:off x="10332720" y="502920"/>
            <a:ext cx="868680" cy="868680"/>
          </a:xfrm>
          <a:prstGeom prst="rect">
            <a:avLst/>
          </a:prstGeom>
        </p:spPr>
      </p:pic>
      <p:sp>
        <p:nvSpPr>
          <p:cNvPr id="5" name="Shape 2"/>
          <p:cNvSpPr/>
          <p:nvPr/>
        </p:nvSpPr>
        <p:spPr>
          <a:xfrm>
            <a:off x="640080" y="1645920"/>
            <a:ext cx="5349240" cy="1920240"/>
          </a:xfrm>
          <a:prstGeom prst="rect">
            <a:avLst/>
          </a:prstGeom>
          <a:solidFill>
            <a:srgbClr val="1B1F2B"/>
          </a:solidFill>
          <a:ln w="15875">
            <a:solidFill>
              <a:srgbClr val="73BF69"/>
            </a:solidFill>
            <a:prstDash val="solid"/>
          </a:ln>
        </p:spPr>
      </p:sp>
      <p:sp>
        <p:nvSpPr>
          <p:cNvPr id="6" name="Text 3"/>
          <p:cNvSpPr/>
          <p:nvPr/>
        </p:nvSpPr>
        <p:spPr>
          <a:xfrm>
            <a:off x="914400" y="1828800"/>
            <a:ext cx="4846320" cy="365760"/>
          </a:xfrm>
          <a:prstGeom prst="rect">
            <a:avLst/>
          </a:prstGeom>
          <a:noFill/>
          <a:ln/>
        </p:spPr>
        <p:txBody>
          <a:bodyPr wrap="square" lIns="0" tIns="0" rIns="0" bIns="0" rtlCol="0" anchor="ctr"/>
          <a:lstStyle/>
          <a:p>
            <a:pPr indent="0" marL="0">
              <a:buNone/>
            </a:pPr>
            <a:r>
              <a:rPr lang="en-US" sz="1350" b="1" dirty="0">
                <a:solidFill>
                  <a:srgbClr val="73BF69"/>
                </a:solidFill>
                <a:latin typeface="Calibri" pitchFamily="34" charset="0"/>
                <a:ea typeface="Calibri" pitchFamily="34" charset="-122"/>
                <a:cs typeface="Calibri" pitchFamily="34" charset="-120"/>
              </a:rPr>
              <a:t>Auto-instrumentation DOES give you</a:t>
            </a:r>
            <a:endParaRPr lang="en-US" sz="1350" dirty="0"/>
          </a:p>
        </p:txBody>
      </p:sp>
      <p:sp>
        <p:nvSpPr>
          <p:cNvPr id="7" name="Text 4"/>
          <p:cNvSpPr/>
          <p:nvPr/>
        </p:nvSpPr>
        <p:spPr>
          <a:xfrm>
            <a:off x="960120" y="2240280"/>
            <a:ext cx="4846320" cy="118872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F4F5F7"/>
                </a:solidFill>
                <a:latin typeface="Calibri" pitchFamily="34" charset="0"/>
                <a:ea typeface="Calibri" pitchFamily="34" charset="-122"/>
                <a:cs typeface="Calibri" pitchFamily="34" charset="-120"/>
              </a:rPr>
              <a:t>JVM heap, GC, thread, CPU-as-seen-by-the-app</a:t>
            </a:r>
            <a:endParaRPr lang="en-US" sz="1400" dirty="0"/>
          </a:p>
          <a:p>
            <a:pPr marL="342900" indent="-342900">
              <a:buSzPct val="100000"/>
              <a:buChar char="•"/>
            </a:pPr>
            <a:r>
              <a:rPr lang="en-US" sz="1400" dirty="0">
                <a:solidFill>
                  <a:srgbClr val="F4F5F7"/>
                </a:solidFill>
                <a:latin typeface="Calibri" pitchFamily="34" charset="0"/>
                <a:ea typeface="Calibri" pitchFamily="34" charset="-122"/>
                <a:cs typeface="Calibri" pitchFamily="34" charset="-120"/>
              </a:rPr>
              <a:t>HTTP latency, error rate, throughput</a:t>
            </a:r>
            <a:endParaRPr lang="en-US" sz="1400" dirty="0"/>
          </a:p>
        </p:txBody>
      </p:sp>
      <p:sp>
        <p:nvSpPr>
          <p:cNvPr id="8" name="Shape 5"/>
          <p:cNvSpPr/>
          <p:nvPr/>
        </p:nvSpPr>
        <p:spPr>
          <a:xfrm>
            <a:off x="6263640" y="1645920"/>
            <a:ext cx="5349240" cy="1920240"/>
          </a:xfrm>
          <a:prstGeom prst="rect">
            <a:avLst/>
          </a:prstGeom>
          <a:solidFill>
            <a:srgbClr val="1B1F2B"/>
          </a:solidFill>
          <a:ln w="15875">
            <a:solidFill>
              <a:srgbClr val="FF8A3D"/>
            </a:solidFill>
            <a:prstDash val="solid"/>
          </a:ln>
        </p:spPr>
      </p:sp>
      <p:sp>
        <p:nvSpPr>
          <p:cNvPr id="9" name="Text 6"/>
          <p:cNvSpPr/>
          <p:nvPr/>
        </p:nvSpPr>
        <p:spPr>
          <a:xfrm>
            <a:off x="6537960" y="1828800"/>
            <a:ext cx="4846320" cy="365760"/>
          </a:xfrm>
          <a:prstGeom prst="rect">
            <a:avLst/>
          </a:prstGeom>
          <a:noFill/>
          <a:ln/>
        </p:spPr>
        <p:txBody>
          <a:bodyPr wrap="square" lIns="0" tIns="0" rIns="0" bIns="0" rtlCol="0" anchor="ctr"/>
          <a:lstStyle/>
          <a:p>
            <a:pPr indent="0" marL="0">
              <a:buNone/>
            </a:pPr>
            <a:r>
              <a:rPr lang="en-US" sz="1350" b="1" dirty="0">
                <a:solidFill>
                  <a:srgbClr val="FF8A3D"/>
                </a:solidFill>
                <a:latin typeface="Calibri" pitchFamily="34" charset="0"/>
                <a:ea typeface="Calibri" pitchFamily="34" charset="-122"/>
                <a:cs typeface="Calibri" pitchFamily="34" charset="-120"/>
              </a:rPr>
              <a:t>It does NOT give you</a:t>
            </a:r>
            <a:endParaRPr lang="en-US" sz="1350" dirty="0"/>
          </a:p>
        </p:txBody>
      </p:sp>
      <p:sp>
        <p:nvSpPr>
          <p:cNvPr id="10" name="Text 7"/>
          <p:cNvSpPr/>
          <p:nvPr/>
        </p:nvSpPr>
        <p:spPr>
          <a:xfrm>
            <a:off x="6583680" y="2240280"/>
            <a:ext cx="4846320" cy="118872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F4F5F7"/>
                </a:solidFill>
                <a:latin typeface="Calibri" pitchFamily="34" charset="0"/>
                <a:ea typeface="Calibri" pitchFamily="34" charset="-122"/>
                <a:cs typeface="Calibri" pitchFamily="34" charset="-120"/>
              </a:rPr>
              <a:t>App Service Plan CPU / memory quota &amp; usage</a:t>
            </a:r>
            <a:endParaRPr lang="en-US" sz="1400" dirty="0"/>
          </a:p>
          <a:p>
            <a:pPr marL="342900" indent="-342900">
              <a:buSzPct val="100000"/>
              <a:buChar char="•"/>
            </a:pPr>
            <a:r>
              <a:rPr lang="en-US" sz="1400" dirty="0">
                <a:solidFill>
                  <a:srgbClr val="F4F5F7"/>
                </a:solidFill>
                <a:latin typeface="Calibri" pitchFamily="34" charset="0"/>
                <a:ea typeface="Calibri" pitchFamily="34" charset="-122"/>
                <a:cs typeface="Calibri" pitchFamily="34" charset="-120"/>
              </a:rPr>
              <a:t>Instance count, autoscale events, platform health</a:t>
            </a:r>
            <a:endParaRPr lang="en-US" sz="1400" dirty="0"/>
          </a:p>
        </p:txBody>
      </p:sp>
      <p:sp>
        <p:nvSpPr>
          <p:cNvPr id="11" name="Text 8"/>
          <p:cNvSpPr/>
          <p:nvPr/>
        </p:nvSpPr>
        <p:spPr>
          <a:xfrm>
            <a:off x="640080" y="3657600"/>
            <a:ext cx="10881360" cy="457200"/>
          </a:xfrm>
          <a:prstGeom prst="rect">
            <a:avLst/>
          </a:prstGeom>
          <a:noFill/>
          <a:ln/>
        </p:spPr>
        <p:txBody>
          <a:bodyPr wrap="square" lIns="0" tIns="0" rIns="0" bIns="0" rtlCol="0" anchor="ctr"/>
          <a:lstStyle/>
          <a:p>
            <a:pPr indent="0" marL="0">
              <a:buNone/>
            </a:pPr>
            <a:r>
              <a:rPr lang="en-US" sz="1400" i="1" dirty="0">
                <a:solidFill>
                  <a:srgbClr val="9BA1AE"/>
                </a:solidFill>
                <a:latin typeface="Calibri" pitchFamily="34" charset="0"/>
                <a:ea typeface="Calibri" pitchFamily="34" charset="-122"/>
                <a:cs typeface="Calibri" pitchFamily="34" charset="-120"/>
              </a:rPr>
              <a:t>Why? The agent lives inside your app — it sees the app, not the Azure platform underneath it. That's a different layer.</a:t>
            </a:r>
            <a:endParaRPr lang="en-US" sz="1400" dirty="0"/>
          </a:p>
        </p:txBody>
      </p:sp>
      <p:sp>
        <p:nvSpPr>
          <p:cNvPr id="12" name="Shape 9"/>
          <p:cNvSpPr/>
          <p:nvPr/>
        </p:nvSpPr>
        <p:spPr>
          <a:xfrm>
            <a:off x="640080" y="4297680"/>
            <a:ext cx="10881360" cy="1737360"/>
          </a:xfrm>
          <a:prstGeom prst="rect">
            <a:avLst/>
          </a:prstGeom>
          <a:solidFill>
            <a:srgbClr val="232838"/>
          </a:solidFill>
          <a:ln w="19050">
            <a:solidFill>
              <a:srgbClr val="F46800"/>
            </a:solidFill>
            <a:prstDash val="solid"/>
          </a:ln>
          <a:effectLst>
            <a:outerShdw sx="100000" sy="100000" kx="0" ky="0" algn="bl" rotWithShape="0" blurRad="114300" dist="38100" dir="8100000">
              <a:srgbClr val="000000">
                <a:alpha val="35000"/>
              </a:srgbClr>
            </a:outerShdw>
          </a:effectLst>
        </p:spPr>
      </p:sp>
      <p:sp>
        <p:nvSpPr>
          <p:cNvPr id="13" name="Text 10"/>
          <p:cNvSpPr/>
          <p:nvPr/>
        </p:nvSpPr>
        <p:spPr>
          <a:xfrm>
            <a:off x="914400" y="4434840"/>
            <a:ext cx="10332720" cy="365760"/>
          </a:xfrm>
          <a:prstGeom prst="rect">
            <a:avLst/>
          </a:prstGeom>
          <a:noFill/>
          <a:ln/>
        </p:spPr>
        <p:txBody>
          <a:bodyPr wrap="square" lIns="0" tIns="0" rIns="0" bIns="0" rtlCol="0" anchor="ctr"/>
          <a:lstStyle/>
          <a:p>
            <a:pPr indent="0" marL="0">
              <a:buNone/>
            </a:pPr>
            <a:r>
              <a:rPr lang="en-US" sz="1300" b="1" spc="200" kern="0" dirty="0">
                <a:solidFill>
                  <a:srgbClr val="F46800"/>
                </a:solidFill>
                <a:latin typeface="Calibri" pitchFamily="34" charset="0"/>
                <a:ea typeface="Calibri" pitchFamily="34" charset="-122"/>
                <a:cs typeface="Calibri" pitchFamily="34" charset="-120"/>
              </a:rPr>
              <a:t>The plan</a:t>
            </a:r>
            <a:endParaRPr lang="en-US" sz="1300" dirty="0"/>
          </a:p>
        </p:txBody>
      </p:sp>
      <p:sp>
        <p:nvSpPr>
          <p:cNvPr id="14" name="Text 11"/>
          <p:cNvSpPr/>
          <p:nvPr/>
        </p:nvSpPr>
        <p:spPr>
          <a:xfrm>
            <a:off x="914400" y="4800600"/>
            <a:ext cx="10332720" cy="1143000"/>
          </a:xfrm>
          <a:prstGeom prst="rect">
            <a:avLst/>
          </a:prstGeom>
          <a:noFill/>
          <a:ln/>
        </p:spPr>
        <p:txBody>
          <a:bodyPr wrap="square" lIns="0" tIns="0" rIns="0" bIns="0" rtlCol="0" anchor="ctr"/>
          <a:lstStyle/>
          <a:p>
            <a:pPr indent="0" marL="0">
              <a:buNone/>
            </a:pPr>
            <a:r>
              <a:rPr lang="en-US" sz="1500" b="1" dirty="0">
                <a:solidFill>
                  <a:srgbClr val="33C5C9"/>
                </a:solidFill>
                <a:latin typeface="Calibri" pitchFamily="34" charset="0"/>
                <a:ea typeface="Calibri" pitchFamily="34" charset="-122"/>
                <a:cs typeface="Calibri" pitchFamily="34" charset="-120"/>
              </a:rPr>
              <a:t>Simplest: </a:t>
            </a:r>
            <a:pPr indent="0" marL="0">
              <a:buNone/>
            </a:pPr>
            <a:r>
              <a:rPr lang="en-US" sz="1500" dirty="0">
                <a:solidFill>
                  <a:srgbClr val="F4F5F7"/>
                </a:solidFill>
                <a:latin typeface="Calibri" pitchFamily="34" charset="0"/>
                <a:ea typeface="Calibri" pitchFamily="34" charset="-122"/>
                <a:cs typeface="Calibri" pitchFamily="34" charset="-120"/>
              </a:rPr>
              <a:t>add the Azure Monitor data source to Grafana — query platform metrics next to your app panels, no ingestion pipeline.   </a:t>
            </a:r>
            <a:pPr indent="0" marL="0">
              <a:buNone/>
            </a:pPr>
            <a:r>
              <a:rPr lang="en-US" sz="1500" b="1" dirty="0">
                <a:solidFill>
                  <a:srgbClr val="33C5C9"/>
                </a:solidFill>
                <a:latin typeface="Calibri" pitchFamily="34" charset="0"/>
                <a:ea typeface="Calibri" pitchFamily="34" charset="-122"/>
                <a:cs typeface="Calibri" pitchFamily="34" charset="-120"/>
              </a:rPr>
              <a:t>If we need it stored: </a:t>
            </a:r>
            <a:pPr indent="0" marL="0">
              <a:buNone/>
            </a:pPr>
            <a:r>
              <a:rPr lang="en-US" sz="1500" dirty="0">
                <a:solidFill>
                  <a:srgbClr val="F4F5F7"/>
                </a:solidFill>
                <a:latin typeface="Calibri" pitchFamily="34" charset="0"/>
                <a:ea typeface="Calibri" pitchFamily="34" charset="-122"/>
                <a:cs typeface="Calibri" pitchFamily="34" charset="-120"/>
              </a:rPr>
              <a:t>run the OTel Collector's Azure Monitor receiver to pull those metrics into Mimir.</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41C"/>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300" kern="0" dirty="0">
                <a:solidFill>
                  <a:srgbClr val="F46800"/>
                </a:solidFill>
                <a:latin typeface="Calibri" pitchFamily="34" charset="0"/>
                <a:ea typeface="Calibri" pitchFamily="34" charset="-122"/>
                <a:cs typeface="Calibri" pitchFamily="34" charset="-120"/>
              </a:rPr>
              <a:t>YOUR MOVE</a:t>
            </a:r>
            <a:endParaRPr lang="en-US" sz="1200" dirty="0"/>
          </a:p>
        </p:txBody>
      </p:sp>
      <p:sp>
        <p:nvSpPr>
          <p:cNvPr id="3" name="Text 1"/>
          <p:cNvSpPr/>
          <p:nvPr/>
        </p:nvSpPr>
        <p:spPr>
          <a:xfrm>
            <a:off x="640080" y="658368"/>
            <a:ext cx="10881360" cy="685800"/>
          </a:xfrm>
          <a:prstGeom prst="rect">
            <a:avLst/>
          </a:prstGeom>
          <a:noFill/>
          <a:ln/>
        </p:spPr>
        <p:txBody>
          <a:bodyPr wrap="square" lIns="0" tIns="0" rIns="0" bIns="0" rtlCol="0" anchor="ctr"/>
          <a:lstStyle/>
          <a:p>
            <a:pPr indent="0" marL="0">
              <a:buNone/>
            </a:pPr>
            <a:r>
              <a:rPr lang="en-US" sz="3000" b="1" dirty="0">
                <a:solidFill>
                  <a:srgbClr val="F4F5F7"/>
                </a:solidFill>
                <a:latin typeface="Trebuchet MS" pitchFamily="34" charset="0"/>
                <a:ea typeface="Trebuchet MS" pitchFamily="34" charset="-122"/>
                <a:cs typeface="Trebuchet MS" pitchFamily="34" charset="-120"/>
              </a:rPr>
              <a:t>Get on LGTM this week</a:t>
            </a:r>
            <a:endParaRPr lang="en-US" sz="3000" dirty="0"/>
          </a:p>
        </p:txBody>
      </p:sp>
      <p:pic>
        <p:nvPicPr>
          <p:cNvPr id="4" name="Image 0" descr="preencoded.png">    </p:cNvPr>
          <p:cNvPicPr>
            <a:picLocks noChangeAspect="1"/>
          </p:cNvPicPr>
          <p:nvPr/>
        </p:nvPicPr>
        <p:blipFill>
          <a:blip r:embed="rId1"/>
          <a:stretch>
            <a:fillRect/>
          </a:stretch>
        </p:blipFill>
        <p:spPr>
          <a:xfrm>
            <a:off x="10424160" y="457200"/>
            <a:ext cx="822960" cy="822960"/>
          </a:xfrm>
          <a:prstGeom prst="rect">
            <a:avLst/>
          </a:prstGeom>
        </p:spPr>
      </p:pic>
      <p:pic>
        <p:nvPicPr>
          <p:cNvPr id="5" name="Image 1" descr="preencoded.png">    </p:cNvPr>
          <p:cNvPicPr>
            <a:picLocks noChangeAspect="1"/>
          </p:cNvPicPr>
          <p:nvPr/>
        </p:nvPicPr>
        <p:blipFill>
          <a:blip r:embed="rId2"/>
          <a:stretch>
            <a:fillRect/>
          </a:stretch>
        </p:blipFill>
        <p:spPr>
          <a:xfrm>
            <a:off x="640080" y="1737360"/>
            <a:ext cx="411480" cy="411480"/>
          </a:xfrm>
          <a:prstGeom prst="rect">
            <a:avLst/>
          </a:prstGeom>
        </p:spPr>
      </p:pic>
      <p:sp>
        <p:nvSpPr>
          <p:cNvPr id="6" name="Text 2"/>
          <p:cNvSpPr/>
          <p:nvPr/>
        </p:nvSpPr>
        <p:spPr>
          <a:xfrm>
            <a:off x="1234440" y="1691640"/>
            <a:ext cx="7680960" cy="502920"/>
          </a:xfrm>
          <a:prstGeom prst="rect">
            <a:avLst/>
          </a:prstGeom>
          <a:noFill/>
          <a:ln/>
        </p:spPr>
        <p:txBody>
          <a:bodyPr wrap="square" lIns="0" tIns="0" rIns="0" bIns="0" rtlCol="0" anchor="ctr"/>
          <a:lstStyle/>
          <a:p>
            <a:pPr indent="0" marL="0">
              <a:buNone/>
            </a:pPr>
            <a:r>
              <a:rPr lang="en-US" sz="1650" dirty="0">
                <a:solidFill>
                  <a:srgbClr val="F4F5F7"/>
                </a:solidFill>
                <a:latin typeface="Calibri" pitchFamily="34" charset="0"/>
                <a:ea typeface="Calibri" pitchFamily="34" charset="-122"/>
                <a:cs typeface="Calibri" pitchFamily="34" charset="-120"/>
              </a:rPr>
              <a:t>Grab the OTel agent jar from Nexus (or install Faro for SPAs).</a:t>
            </a:r>
            <a:endParaRPr lang="en-US" sz="1650" dirty="0"/>
          </a:p>
        </p:txBody>
      </p:sp>
      <p:pic>
        <p:nvPicPr>
          <p:cNvPr id="7" name="Image 2" descr="preencoded.png">    </p:cNvPr>
          <p:cNvPicPr>
            <a:picLocks noChangeAspect="1"/>
          </p:cNvPicPr>
          <p:nvPr/>
        </p:nvPicPr>
        <p:blipFill>
          <a:blip r:embed="rId3"/>
          <a:stretch>
            <a:fillRect/>
          </a:stretch>
        </p:blipFill>
        <p:spPr>
          <a:xfrm>
            <a:off x="640080" y="2523744"/>
            <a:ext cx="411480" cy="411480"/>
          </a:xfrm>
          <a:prstGeom prst="rect">
            <a:avLst/>
          </a:prstGeom>
        </p:spPr>
      </p:pic>
      <p:sp>
        <p:nvSpPr>
          <p:cNvPr id="8" name="Text 3"/>
          <p:cNvSpPr/>
          <p:nvPr/>
        </p:nvSpPr>
        <p:spPr>
          <a:xfrm>
            <a:off x="1234440" y="2478024"/>
            <a:ext cx="7680960" cy="502920"/>
          </a:xfrm>
          <a:prstGeom prst="rect">
            <a:avLst/>
          </a:prstGeom>
          <a:noFill/>
          <a:ln/>
        </p:spPr>
        <p:txBody>
          <a:bodyPr wrap="square" lIns="0" tIns="0" rIns="0" bIns="0" rtlCol="0" anchor="ctr"/>
          <a:lstStyle/>
          <a:p>
            <a:pPr indent="0" marL="0">
              <a:buNone/>
            </a:pPr>
            <a:r>
              <a:rPr lang="en-US" sz="1650" dirty="0">
                <a:solidFill>
                  <a:srgbClr val="F4F5F7"/>
                </a:solidFill>
                <a:latin typeface="Calibri" pitchFamily="34" charset="0"/>
                <a:ea typeface="Calibri" pitchFamily="34" charset="-122"/>
                <a:cs typeface="Calibri" pitchFamily="34" charset="-120"/>
              </a:rPr>
              <a:t>Set the OTLP endpoint, X-Scope-OrgID, and your service name.</a:t>
            </a:r>
            <a:endParaRPr lang="en-US" sz="1650" dirty="0"/>
          </a:p>
        </p:txBody>
      </p:sp>
      <p:pic>
        <p:nvPicPr>
          <p:cNvPr id="9" name="Image 3" descr="preencoded.png">    </p:cNvPr>
          <p:cNvPicPr>
            <a:picLocks noChangeAspect="1"/>
          </p:cNvPicPr>
          <p:nvPr/>
        </p:nvPicPr>
        <p:blipFill>
          <a:blip r:embed="rId4"/>
          <a:stretch>
            <a:fillRect/>
          </a:stretch>
        </p:blipFill>
        <p:spPr>
          <a:xfrm>
            <a:off x="640080" y="3310128"/>
            <a:ext cx="411480" cy="411480"/>
          </a:xfrm>
          <a:prstGeom prst="rect">
            <a:avLst/>
          </a:prstGeom>
        </p:spPr>
      </p:pic>
      <p:sp>
        <p:nvSpPr>
          <p:cNvPr id="10" name="Text 4"/>
          <p:cNvSpPr/>
          <p:nvPr/>
        </p:nvSpPr>
        <p:spPr>
          <a:xfrm>
            <a:off x="1234440" y="3264408"/>
            <a:ext cx="7680960" cy="502920"/>
          </a:xfrm>
          <a:prstGeom prst="rect">
            <a:avLst/>
          </a:prstGeom>
          <a:noFill/>
          <a:ln/>
        </p:spPr>
        <p:txBody>
          <a:bodyPr wrap="square" lIns="0" tIns="0" rIns="0" bIns="0" rtlCol="0" anchor="ctr"/>
          <a:lstStyle/>
          <a:p>
            <a:pPr indent="0" marL="0">
              <a:buNone/>
            </a:pPr>
            <a:r>
              <a:rPr lang="en-US" sz="1650" dirty="0">
                <a:solidFill>
                  <a:srgbClr val="F4F5F7"/>
                </a:solidFill>
                <a:latin typeface="Calibri" pitchFamily="34" charset="0"/>
                <a:ea typeface="Calibri" pitchFamily="34" charset="-122"/>
                <a:cs typeface="Calibri" pitchFamily="34" charset="-120"/>
              </a:rPr>
              <a:t>Clone the standard dashboard and swap in your service name.</a:t>
            </a:r>
            <a:endParaRPr lang="en-US" sz="1650" dirty="0"/>
          </a:p>
        </p:txBody>
      </p:sp>
      <p:pic>
        <p:nvPicPr>
          <p:cNvPr id="11" name="Image 4" descr="preencoded.png">    </p:cNvPr>
          <p:cNvPicPr>
            <a:picLocks noChangeAspect="1"/>
          </p:cNvPicPr>
          <p:nvPr/>
        </p:nvPicPr>
        <p:blipFill>
          <a:blip r:embed="rId5"/>
          <a:stretch>
            <a:fillRect/>
          </a:stretch>
        </p:blipFill>
        <p:spPr>
          <a:xfrm>
            <a:off x="640080" y="4096512"/>
            <a:ext cx="411480" cy="411480"/>
          </a:xfrm>
          <a:prstGeom prst="rect">
            <a:avLst/>
          </a:prstGeom>
        </p:spPr>
      </p:pic>
      <p:sp>
        <p:nvSpPr>
          <p:cNvPr id="12" name="Text 5"/>
          <p:cNvSpPr/>
          <p:nvPr/>
        </p:nvSpPr>
        <p:spPr>
          <a:xfrm>
            <a:off x="1234440" y="4050792"/>
            <a:ext cx="7680960" cy="502920"/>
          </a:xfrm>
          <a:prstGeom prst="rect">
            <a:avLst/>
          </a:prstGeom>
          <a:noFill/>
          <a:ln/>
        </p:spPr>
        <p:txBody>
          <a:bodyPr wrap="square" lIns="0" tIns="0" rIns="0" bIns="0" rtlCol="0" anchor="ctr"/>
          <a:lstStyle/>
          <a:p>
            <a:pPr indent="0" marL="0">
              <a:buNone/>
            </a:pPr>
            <a:r>
              <a:rPr lang="en-US" sz="1650" dirty="0">
                <a:solidFill>
                  <a:srgbClr val="F4F5F7"/>
                </a:solidFill>
                <a:latin typeface="Calibri" pitchFamily="34" charset="0"/>
                <a:ea typeface="Calibri" pitchFamily="34" charset="-122"/>
                <a:cs typeface="Calibri" pitchFamily="34" charset="-120"/>
              </a:rPr>
              <a:t>Add one business alert that matters to your team.</a:t>
            </a:r>
            <a:endParaRPr lang="en-US" sz="1650" dirty="0"/>
          </a:p>
        </p:txBody>
      </p:sp>
      <p:pic>
        <p:nvPicPr>
          <p:cNvPr id="13" name="Image 5" descr="preencoded.png">    </p:cNvPr>
          <p:cNvPicPr>
            <a:picLocks noChangeAspect="1"/>
          </p:cNvPicPr>
          <p:nvPr/>
        </p:nvPicPr>
        <p:blipFill>
          <a:blip r:embed="rId6"/>
          <a:stretch>
            <a:fillRect/>
          </a:stretch>
        </p:blipFill>
        <p:spPr>
          <a:xfrm>
            <a:off x="640080" y="4882896"/>
            <a:ext cx="411480" cy="411480"/>
          </a:xfrm>
          <a:prstGeom prst="rect">
            <a:avLst/>
          </a:prstGeom>
        </p:spPr>
      </p:pic>
      <p:sp>
        <p:nvSpPr>
          <p:cNvPr id="14" name="Text 6"/>
          <p:cNvSpPr/>
          <p:nvPr/>
        </p:nvSpPr>
        <p:spPr>
          <a:xfrm>
            <a:off x="1234440" y="4837176"/>
            <a:ext cx="7680960" cy="502920"/>
          </a:xfrm>
          <a:prstGeom prst="rect">
            <a:avLst/>
          </a:prstGeom>
          <a:noFill/>
          <a:ln/>
        </p:spPr>
        <p:txBody>
          <a:bodyPr wrap="square" lIns="0" tIns="0" rIns="0" bIns="0" rtlCol="0" anchor="ctr"/>
          <a:lstStyle/>
          <a:p>
            <a:pPr indent="0" marL="0">
              <a:buNone/>
            </a:pPr>
            <a:r>
              <a:rPr lang="en-US" sz="1650" dirty="0">
                <a:solidFill>
                  <a:srgbClr val="F4F5F7"/>
                </a:solidFill>
                <a:latin typeface="Calibri" pitchFamily="34" charset="0"/>
                <a:ea typeface="Calibri" pitchFamily="34" charset="-122"/>
                <a:cs typeface="Calibri" pitchFamily="34" charset="-120"/>
              </a:rPr>
              <a:t>Ping me — I'll pair with you on your first dashboard.</a:t>
            </a:r>
            <a:endParaRPr lang="en-US" sz="1650" dirty="0"/>
          </a:p>
        </p:txBody>
      </p:sp>
      <p:sp>
        <p:nvSpPr>
          <p:cNvPr id="15" name="Shape 7"/>
          <p:cNvSpPr/>
          <p:nvPr/>
        </p:nvSpPr>
        <p:spPr>
          <a:xfrm>
            <a:off x="9235440" y="1691640"/>
            <a:ext cx="2651760" cy="3931920"/>
          </a:xfrm>
          <a:prstGeom prst="rect">
            <a:avLst/>
          </a:prstGeom>
          <a:solidFill>
            <a:srgbClr val="1B1F2B"/>
          </a:solidFill>
          <a:ln w="19050">
            <a:solidFill>
              <a:srgbClr val="F46800"/>
            </a:solidFill>
            <a:prstDash val="solid"/>
          </a:ln>
          <a:effectLst>
            <a:outerShdw sx="100000" sy="100000" kx="0" ky="0" algn="bl" rotWithShape="0" blurRad="114300" dist="38100" dir="8100000">
              <a:srgbClr val="000000">
                <a:alpha val="35000"/>
              </a:srgbClr>
            </a:outerShdw>
          </a:effectLst>
        </p:spPr>
      </p:sp>
      <p:sp>
        <p:nvSpPr>
          <p:cNvPr id="16" name="Text 8"/>
          <p:cNvSpPr/>
          <p:nvPr/>
        </p:nvSpPr>
        <p:spPr>
          <a:xfrm>
            <a:off x="9464040" y="1874520"/>
            <a:ext cx="2286000" cy="365760"/>
          </a:xfrm>
          <a:prstGeom prst="rect">
            <a:avLst/>
          </a:prstGeom>
          <a:noFill/>
          <a:ln/>
        </p:spPr>
        <p:txBody>
          <a:bodyPr wrap="square" lIns="0" tIns="0" rIns="0" bIns="0" rtlCol="0" anchor="ctr"/>
          <a:lstStyle/>
          <a:p>
            <a:pPr indent="0" marL="0">
              <a:buNone/>
            </a:pPr>
            <a:r>
              <a:rPr lang="en-US" sz="1800" b="1" dirty="0">
                <a:solidFill>
                  <a:srgbClr val="F46800"/>
                </a:solidFill>
                <a:latin typeface="Trebuchet MS" pitchFamily="34" charset="0"/>
                <a:ea typeface="Trebuchet MS" pitchFamily="34" charset="-122"/>
                <a:cs typeface="Trebuchet MS" pitchFamily="34" charset="-120"/>
              </a:rPr>
              <a:t>Resources</a:t>
            </a:r>
            <a:endParaRPr lang="en-US" sz="1800" dirty="0"/>
          </a:p>
        </p:txBody>
      </p:sp>
      <p:sp>
        <p:nvSpPr>
          <p:cNvPr id="17" name="Text 9"/>
          <p:cNvSpPr/>
          <p:nvPr/>
        </p:nvSpPr>
        <p:spPr>
          <a:xfrm>
            <a:off x="9464040" y="2377440"/>
            <a:ext cx="2240280" cy="310896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F4F5F7"/>
                </a:solidFill>
                <a:latin typeface="Calibri" pitchFamily="34" charset="0"/>
                <a:ea typeface="Calibri" pitchFamily="34" charset="-122"/>
                <a:cs typeface="Calibri" pitchFamily="34" charset="-120"/>
              </a:rPr>
              <a:t>Onboarding runbook</a:t>
            </a:r>
            <a:endParaRPr lang="en-US" sz="1350" dirty="0"/>
          </a:p>
          <a:p>
            <a:pPr marL="342900" indent="-342900">
              <a:spcAft>
                <a:spcPts val="1000"/>
              </a:spcAft>
              <a:buSzPct val="100000"/>
              <a:buChar char="•"/>
            </a:pPr>
            <a:r>
              <a:rPr lang="en-US" sz="1350" dirty="0">
                <a:solidFill>
                  <a:srgbClr val="F4F5F7"/>
                </a:solidFill>
                <a:latin typeface="Calibri" pitchFamily="34" charset="0"/>
                <a:ea typeface="Calibri" pitchFamily="34" charset="-122"/>
                <a:cs typeface="Calibri" pitchFamily="34" charset="-120"/>
              </a:rPr>
              <a:t>Standard dashboard JSON</a:t>
            </a:r>
            <a:endParaRPr lang="en-US" sz="1350" dirty="0"/>
          </a:p>
          <a:p>
            <a:pPr marL="342900" indent="-342900">
              <a:spcAft>
                <a:spcPts val="1000"/>
              </a:spcAft>
              <a:buSzPct val="100000"/>
              <a:buChar char="•"/>
            </a:pPr>
            <a:r>
              <a:rPr lang="en-US" sz="1350" dirty="0">
                <a:solidFill>
                  <a:srgbClr val="F4F5F7"/>
                </a:solidFill>
                <a:latin typeface="Calibri" pitchFamily="34" charset="0"/>
                <a:ea typeface="Calibri" pitchFamily="34" charset="-122"/>
                <a:cs typeface="Calibri" pitchFamily="34" charset="-120"/>
              </a:rPr>
              <a:t>Alert + BigPanda guide</a:t>
            </a:r>
            <a:endParaRPr lang="en-US" sz="1350" dirty="0"/>
          </a:p>
          <a:p>
            <a:pPr marL="342900" indent="-342900">
              <a:buSzPct val="100000"/>
              <a:buChar char="•"/>
            </a:pPr>
            <a:r>
              <a:rPr lang="en-US" sz="1350" dirty="0">
                <a:solidFill>
                  <a:srgbClr val="F4F5F7"/>
                </a:solidFill>
                <a:latin typeface="Calibri" pitchFamily="34" charset="0"/>
                <a:ea typeface="Calibri" pitchFamily="34" charset="-122"/>
                <a:cs typeface="Calibri" pitchFamily="34" charset="-120"/>
              </a:rPr>
              <a:t>Office hours / Slack channel</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41C"/>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46800"/>
          </a:solidFill>
          <a:ln/>
        </p:spPr>
      </p:sp>
      <p:pic>
        <p:nvPicPr>
          <p:cNvPr id="3" name="Image 0" descr="preencoded.png">    </p:cNvPr>
          <p:cNvPicPr>
            <a:picLocks noChangeAspect="1"/>
          </p:cNvPicPr>
          <p:nvPr/>
        </p:nvPicPr>
        <p:blipFill>
          <a:blip r:embed="rId1"/>
          <a:stretch>
            <a:fillRect/>
          </a:stretch>
        </p:blipFill>
        <p:spPr>
          <a:xfrm>
            <a:off x="640080" y="1554480"/>
            <a:ext cx="914400" cy="914400"/>
          </a:xfrm>
          <a:prstGeom prst="rect">
            <a:avLst/>
          </a:prstGeom>
        </p:spPr>
      </p:pic>
      <p:sp>
        <p:nvSpPr>
          <p:cNvPr id="4" name="Text 1"/>
          <p:cNvSpPr/>
          <p:nvPr/>
        </p:nvSpPr>
        <p:spPr>
          <a:xfrm>
            <a:off x="640080" y="2651760"/>
            <a:ext cx="10058400" cy="914400"/>
          </a:xfrm>
          <a:prstGeom prst="rect">
            <a:avLst/>
          </a:prstGeom>
          <a:noFill/>
          <a:ln/>
        </p:spPr>
        <p:txBody>
          <a:bodyPr wrap="square" lIns="0" tIns="0" rIns="0" bIns="0" rtlCol="0" anchor="ctr"/>
          <a:lstStyle/>
          <a:p>
            <a:pPr indent="0" marL="0">
              <a:buNone/>
            </a:pPr>
            <a:r>
              <a:rPr lang="en-US" sz="5000" b="1" dirty="0">
                <a:solidFill>
                  <a:srgbClr val="F4F5F7"/>
                </a:solidFill>
                <a:latin typeface="Trebuchet MS" pitchFamily="34" charset="0"/>
                <a:ea typeface="Trebuchet MS" pitchFamily="34" charset="-122"/>
                <a:cs typeface="Trebuchet MS" pitchFamily="34" charset="-120"/>
              </a:rPr>
              <a:t>Questions?</a:t>
            </a:r>
            <a:endParaRPr lang="en-US" sz="5000" dirty="0"/>
          </a:p>
        </p:txBody>
      </p:sp>
      <p:sp>
        <p:nvSpPr>
          <p:cNvPr id="5" name="Text 2"/>
          <p:cNvSpPr/>
          <p:nvPr/>
        </p:nvSpPr>
        <p:spPr>
          <a:xfrm>
            <a:off x="640080" y="3749040"/>
            <a:ext cx="10058400" cy="731520"/>
          </a:xfrm>
          <a:prstGeom prst="rect">
            <a:avLst/>
          </a:prstGeom>
          <a:noFill/>
          <a:ln/>
        </p:spPr>
        <p:txBody>
          <a:bodyPr wrap="square" lIns="0" tIns="0" rIns="0" bIns="0" rtlCol="0" anchor="ctr"/>
          <a:lstStyle/>
          <a:p>
            <a:pPr indent="0" marL="0">
              <a:buNone/>
            </a:pPr>
            <a:r>
              <a:rPr lang="en-US" sz="1500" dirty="0">
                <a:solidFill>
                  <a:srgbClr val="9BA1AE"/>
                </a:solidFill>
                <a:latin typeface="Calibri" pitchFamily="34" charset="0"/>
                <a:ea typeface="Calibri" pitchFamily="34" charset="-122"/>
                <a:cs typeface="Calibri" pitchFamily="34" charset="-120"/>
              </a:rPr>
              <a:t>Likely topics: cost vs Splunk · data retention · agent overhead · PII in logs · non-JVM apps · log sampling · access &amp; permissions.</a:t>
            </a:r>
            <a:endParaRPr lang="en-US" sz="1500" dirty="0"/>
          </a:p>
        </p:txBody>
      </p:sp>
      <p:sp>
        <p:nvSpPr>
          <p:cNvPr id="6" name="Text 3"/>
          <p:cNvSpPr/>
          <p:nvPr/>
        </p:nvSpPr>
        <p:spPr>
          <a:xfrm>
            <a:off x="640080" y="5852160"/>
            <a:ext cx="10058400" cy="457200"/>
          </a:xfrm>
          <a:prstGeom prst="rect">
            <a:avLst/>
          </a:prstGeom>
          <a:noFill/>
          <a:ln/>
        </p:spPr>
        <p:txBody>
          <a:bodyPr wrap="square" lIns="0" tIns="0" rIns="0" bIns="0" rtlCol="0" anchor="ctr"/>
          <a:lstStyle/>
          <a:p>
            <a:pPr indent="0" marL="0">
              <a:buNone/>
            </a:pPr>
            <a:r>
              <a:rPr lang="en-US" sz="1600" b="1" dirty="0">
                <a:solidFill>
                  <a:srgbClr val="FF8A3D"/>
                </a:solidFill>
                <a:latin typeface="Calibri" pitchFamily="34" charset="0"/>
                <a:ea typeface="Calibri" pitchFamily="34" charset="-122"/>
                <a:cs typeface="Calibri" pitchFamily="34" charset="-120"/>
              </a:rPr>
              <a:t>Thanks — now let's get your service on LGTM.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Splunk to LGTM</dc:title>
  <dc:subject>PptxGenJS Presentation</dc:subject>
  <dc:creator>Sid</dc:creator>
  <cp:lastModifiedBy>Sid</cp:lastModifiedBy>
  <cp:revision>1</cp:revision>
  <dcterms:created xsi:type="dcterms:W3CDTF">2026-05-30T08:28:31Z</dcterms:created>
  <dcterms:modified xsi:type="dcterms:W3CDTF">2026-05-30T08:28:31Z</dcterms:modified>
</cp:coreProperties>
</file>